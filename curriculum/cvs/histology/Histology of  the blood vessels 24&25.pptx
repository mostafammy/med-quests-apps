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43" autoAdjust="0"/>
  </p:normalViewPr>
  <p:slideViewPr>
    <p:cSldViewPr snapToGrid="0">
      <p:cViewPr varScale="1">
        <p:scale>
          <a:sx n="63" d="100"/>
          <a:sy n="63" d="100"/>
        </p:scale>
        <p:origin x="10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10/9/2023</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10/9/2023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457200"/>
            <a:ext cx="7766936" cy="2116183"/>
          </a:xfrm>
        </p:spPr>
        <p:txBody>
          <a:bodyPr/>
          <a:lstStyle/>
          <a:p>
            <a:pPr marL="0" marR="0" algn="ctr">
              <a:lnSpc>
                <a:spcPct val="115000"/>
              </a:lnSpc>
              <a:spcBef>
                <a:spcPts val="0"/>
              </a:spcBef>
              <a:spcAft>
                <a:spcPts val="0"/>
              </a:spcAft>
            </a:pPr>
            <a:r>
              <a:rPr lang="en-US" sz="32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HISTOLOGY OF</a:t>
            </a:r>
            <a:br>
              <a:rPr lang="en-US" sz="3200" dirty="0">
                <a:latin typeface="Calibri" panose="020F0502020204030204" pitchFamily="34" charset="0"/>
                <a:ea typeface="Calibri" panose="020F0502020204030204" pitchFamily="34" charset="0"/>
                <a:cs typeface="Arial" panose="020B0604020202020204" pitchFamily="34" charset="0"/>
              </a:rPr>
            </a:br>
            <a:r>
              <a:rPr lang="en-US" sz="32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CARDIOVASCULAR SYSTEM</a:t>
            </a:r>
            <a:br>
              <a:rPr lang="en-US" sz="3200" dirty="0">
                <a:latin typeface="Calibri" panose="020F0502020204030204" pitchFamily="34" charset="0"/>
                <a:ea typeface="Calibri" panose="020F0502020204030204" pitchFamily="34" charset="0"/>
                <a:cs typeface="Arial" panose="020B0604020202020204" pitchFamily="34" charset="0"/>
              </a:rPr>
            </a:br>
            <a:r>
              <a:rPr lang="en-US" sz="40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L24- Blood vessels</a:t>
            </a:r>
            <a:endParaRPr lang="en-US" sz="40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Subtitle 2"/>
          <p:cNvSpPr>
            <a:spLocks noGrp="1"/>
          </p:cNvSpPr>
          <p:nvPr>
            <p:ph type="subTitle" idx="1"/>
          </p:nvPr>
        </p:nvSpPr>
        <p:spPr>
          <a:xfrm>
            <a:off x="783771" y="3344091"/>
            <a:ext cx="9170126" cy="1803641"/>
          </a:xfrm>
        </p:spPr>
        <p:txBody>
          <a:bodyPr>
            <a:noAutofit/>
          </a:bodyPr>
          <a:lstStyle/>
          <a:p>
            <a:pPr algn="ctr">
              <a:lnSpc>
                <a:spcPct val="107000"/>
              </a:lnSpc>
              <a:spcBef>
                <a:spcPts val="0"/>
              </a:spcBef>
              <a:spcAft>
                <a:spcPts val="800"/>
              </a:spcAft>
            </a:pPr>
            <a:r>
              <a:rPr lang="en-US"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Prof./ Ola Abd El </a:t>
            </a:r>
            <a:r>
              <a:rPr lang="en-US" sz="3200" b="1"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Tawab</a:t>
            </a:r>
            <a:endParaRPr lang="en-US"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spcBef>
                <a:spcPts val="0"/>
              </a:spcBef>
              <a:spcAft>
                <a:spcPts val="800"/>
              </a:spcAft>
            </a:pPr>
            <a:r>
              <a:rPr lang="en-US" sz="32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Professor of Histology- Faculty of Medicine- Assiut University</a:t>
            </a:r>
            <a:endParaRPr lang="en-US" sz="32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8952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4767"/>
            <a:ext cx="8596668" cy="5466596"/>
          </a:xfrm>
        </p:spPr>
        <p:txBody>
          <a:bodyPr>
            <a:noAutofit/>
          </a:bodyPr>
          <a:lstStyle/>
          <a:p>
            <a:pPr marL="0" marR="0">
              <a:lnSpc>
                <a:spcPct val="107000"/>
              </a:lnSpc>
              <a:spcBef>
                <a:spcPts val="0"/>
              </a:spcBef>
              <a:spcAft>
                <a:spcPts val="800"/>
              </a:spcAft>
              <a:tabLst>
                <a:tab pos="2012950" algn="l"/>
              </a:tabLst>
            </a:pPr>
            <a:r>
              <a:rPr lang="en-US" sz="3200" dirty="0">
                <a:latin typeface="Times New Roman" panose="02020603050405020304" pitchFamily="18" charset="0"/>
                <a:ea typeface="Calibri" panose="020F0502020204030204" pitchFamily="34" charset="0"/>
                <a:cs typeface="Arial" panose="020B0604020202020204" pitchFamily="34" charset="0"/>
              </a:rPr>
              <a:t>Learning objectives (Lecture 24 / 3</a:t>
            </a:r>
            <a:r>
              <a:rPr lang="en-US" sz="3200" baseline="30000" dirty="0">
                <a:latin typeface="Times New Roman" panose="02020603050405020304" pitchFamily="18" charset="0"/>
                <a:ea typeface="Calibri" panose="020F0502020204030204" pitchFamily="34" charset="0"/>
                <a:cs typeface="Arial" panose="020B0604020202020204" pitchFamily="34" charset="0"/>
              </a:rPr>
              <a:t>rd</a:t>
            </a:r>
            <a:r>
              <a:rPr lang="en-US" sz="3200" dirty="0">
                <a:latin typeface="Times New Roman" panose="02020603050405020304" pitchFamily="18" charset="0"/>
                <a:ea typeface="Calibri" panose="020F0502020204030204" pitchFamily="34" charset="0"/>
                <a:cs typeface="Arial" panose="020B0604020202020204" pitchFamily="34" charset="0"/>
              </a:rPr>
              <a:t> week)</a:t>
            </a:r>
            <a:endParaRPr lang="en-US" sz="32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tabLst>
                <a:tab pos="2012950" algn="l"/>
              </a:tabLst>
            </a:pPr>
            <a:r>
              <a:rPr lang="en-US" sz="3200" dirty="0">
                <a:highlight>
                  <a:srgbClr val="D3D3D3"/>
                </a:highlight>
                <a:latin typeface="Times New Roman" panose="02020603050405020304" pitchFamily="18" charset="0"/>
                <a:ea typeface="Calibri" panose="020F0502020204030204" pitchFamily="34" charset="0"/>
                <a:cs typeface="Arial" panose="020B0604020202020204" pitchFamily="34" charset="0"/>
              </a:rPr>
              <a:t>After the lecture, students should be able to:</a:t>
            </a:r>
            <a:endParaRPr lang="en-US" sz="32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tabLst>
                <a:tab pos="2012950" algn="l"/>
              </a:tabLst>
            </a:pPr>
            <a:r>
              <a:rPr lang="en-US" sz="3200" dirty="0">
                <a:highlight>
                  <a:srgbClr val="D3D3D3"/>
                </a:highlight>
                <a:latin typeface="Times New Roman" panose="02020603050405020304" pitchFamily="18" charset="0"/>
                <a:ea typeface="Calibri" panose="020F0502020204030204" pitchFamily="34" charset="0"/>
                <a:cs typeface="Arial" panose="020B0604020202020204" pitchFamily="34" charset="0"/>
              </a:rPr>
              <a:t>▪Mention the types of  the blood vessels.</a:t>
            </a:r>
            <a:endParaRPr lang="en-US" sz="32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tabLst>
                <a:tab pos="2012950" algn="l"/>
              </a:tabLst>
            </a:pPr>
            <a:r>
              <a:rPr lang="en-US" sz="3200" dirty="0">
                <a:highlight>
                  <a:srgbClr val="D3D3D3"/>
                </a:highlight>
                <a:latin typeface="Times New Roman" panose="02020603050405020304" pitchFamily="18" charset="0"/>
                <a:ea typeface="Calibri" panose="020F0502020204030204" pitchFamily="34" charset="0"/>
                <a:cs typeface="Arial" panose="020B0604020202020204" pitchFamily="34" charset="0"/>
              </a:rPr>
              <a:t>▪ Recognize the different parts of the wall of the blood vessel </a:t>
            </a:r>
            <a:endParaRPr lang="en-US" sz="32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tabLst>
                <a:tab pos="2012950" algn="l"/>
              </a:tabLst>
            </a:pPr>
            <a:r>
              <a:rPr lang="en-US" sz="3200" dirty="0">
                <a:highlight>
                  <a:srgbClr val="D3D3D3"/>
                </a:highlight>
                <a:latin typeface="Times New Roman" panose="02020603050405020304" pitchFamily="18" charset="0"/>
                <a:ea typeface="Calibri" panose="020F0502020204030204" pitchFamily="34" charset="0"/>
                <a:cs typeface="Arial" panose="020B0604020202020204" pitchFamily="34" charset="0"/>
              </a:rPr>
              <a:t>▪ Discuss the normal structure of endothelial cells.</a:t>
            </a:r>
            <a:endParaRPr lang="en-US" sz="3200" dirty="0">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tabLst>
                <a:tab pos="2012950" algn="l"/>
              </a:tabLst>
            </a:pPr>
            <a:r>
              <a:rPr lang="en-US" sz="3200" dirty="0">
                <a:highlight>
                  <a:srgbClr val="D3D3D3"/>
                </a:highlight>
                <a:latin typeface="Times New Roman" panose="02020603050405020304" pitchFamily="18" charset="0"/>
                <a:ea typeface="Calibri" panose="020F0502020204030204" pitchFamily="34" charset="0"/>
                <a:cs typeface="Arial" panose="020B0604020202020204" pitchFamily="34" charset="0"/>
              </a:rPr>
              <a:t>▪ List the types of arteries and veins.</a:t>
            </a:r>
            <a:endParaRPr lang="en-US" sz="3200" dirty="0">
              <a:latin typeface="Calibri" panose="020F0502020204030204" pitchFamily="34" charset="0"/>
              <a:ea typeface="Calibri" panose="020F0502020204030204" pitchFamily="34" charset="0"/>
              <a:cs typeface="Arial" panose="020B0604020202020204" pitchFamily="34" charset="0"/>
            </a:endParaRPr>
          </a:p>
          <a:p>
            <a:endParaRPr lang="en-US" sz="3200" dirty="0"/>
          </a:p>
        </p:txBody>
      </p:sp>
    </p:spTree>
    <p:extLst>
      <p:ext uri="{BB962C8B-B14F-4D97-AF65-F5344CB8AC3E}">
        <p14:creationId xmlns:p14="http://schemas.microsoft.com/office/powerpoint/2010/main" val="2954426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5143"/>
            <a:ext cx="10844106" cy="1262743"/>
          </a:xfrm>
        </p:spPr>
        <p:txBody>
          <a:bodyPr>
            <a:noAutofit/>
          </a:bodyPr>
          <a:lstStyle/>
          <a:p>
            <a:pPr lvl="0" indent="-342900" algn="ctr">
              <a:lnSpc>
                <a:spcPct val="107000"/>
              </a:lnSpc>
              <a:spcBef>
                <a:spcPts val="0"/>
              </a:spcBef>
              <a:spcAft>
                <a:spcPts val="800"/>
              </a:spcAft>
              <a:tabLst>
                <a:tab pos="2012950" algn="l"/>
              </a:tabLst>
            </a:pPr>
            <a:r>
              <a:rPr lang="en-US" sz="3200" b="1" dirty="0">
                <a:solidFill>
                  <a:srgbClr val="FF0000"/>
                </a:solidFill>
                <a:latin typeface="Times New Roman" panose="02020603050405020304" pitchFamily="18" charset="0"/>
                <a:ea typeface="Calibri" panose="020F0502020204030204" pitchFamily="34" charset="0"/>
                <a:cs typeface="Arial" panose="020B0604020202020204" pitchFamily="34" charset="0"/>
              </a:rPr>
              <a:t>Histology of the blood vessels</a:t>
            </a:r>
            <a:br>
              <a:rPr lang="en-US" sz="3200" dirty="0">
                <a:solidFill>
                  <a:prstClr val="black">
                    <a:lumMod val="75000"/>
                    <a:lumOff val="25000"/>
                  </a:prstClr>
                </a:solidFill>
                <a:latin typeface="Calibri" panose="020F0502020204030204" pitchFamily="34" charset="0"/>
                <a:ea typeface="Calibri" panose="020F0502020204030204" pitchFamily="34" charset="0"/>
                <a:cs typeface="Arial" panose="020B0604020202020204" pitchFamily="34" charset="0"/>
              </a:rPr>
            </a:br>
            <a:r>
              <a:rPr lang="en-US" sz="32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General structure of blood vessels:</a:t>
            </a:r>
            <a:br>
              <a:rPr lang="en-US" sz="3200" dirty="0">
                <a:solidFill>
                  <a:prstClr val="black">
                    <a:lumMod val="75000"/>
                    <a:lumOff val="25000"/>
                  </a:prstClr>
                </a:solidFill>
                <a:latin typeface="Calibri" panose="020F0502020204030204" pitchFamily="34" charset="0"/>
                <a:ea typeface="Calibri" panose="020F0502020204030204" pitchFamily="34" charset="0"/>
                <a:cs typeface="Arial" panose="020B0604020202020204" pitchFamily="34" charset="0"/>
              </a:rPr>
            </a:br>
            <a:endParaRPr lang="en-US" sz="3200" dirty="0"/>
          </a:p>
        </p:txBody>
      </p:sp>
      <p:sp>
        <p:nvSpPr>
          <p:cNvPr id="3" name="Content Placeholder 2"/>
          <p:cNvSpPr>
            <a:spLocks noGrp="1"/>
          </p:cNvSpPr>
          <p:nvPr>
            <p:ph idx="1"/>
          </p:nvPr>
        </p:nvSpPr>
        <p:spPr>
          <a:xfrm>
            <a:off x="145143" y="1161143"/>
            <a:ext cx="11376297" cy="5696857"/>
          </a:xfrm>
        </p:spPr>
        <p:txBody>
          <a:bodyPr>
            <a:noAutofit/>
          </a:bodyPr>
          <a:lstStyle/>
          <a:p>
            <a:pPr marL="0" algn="just">
              <a:lnSpc>
                <a:spcPct val="150000"/>
              </a:lnSpc>
              <a:spcBef>
                <a:spcPts val="1200"/>
              </a:spcBef>
            </a:pPr>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Blood vessels</a:t>
            </a:r>
            <a:r>
              <a:rPr lang="en-US" sz="28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 </a:t>
            </a:r>
            <a:r>
              <a:rPr lang="en-US" sz="2800" dirty="0">
                <a:solidFill>
                  <a:srgbClr val="373D3F"/>
                </a:solidFill>
                <a:latin typeface="Times New Roman" panose="02020603050405020304" pitchFamily="18" charset="0"/>
                <a:ea typeface="Times New Roman" panose="02020603050405020304" pitchFamily="18" charset="0"/>
                <a:cs typeface="Arial" panose="020B0604020202020204" pitchFamily="34" charset="0"/>
              </a:rPr>
              <a:t>form a continuous path for blood flow that starts and ends at the heart. </a:t>
            </a:r>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Arteries</a:t>
            </a:r>
            <a:r>
              <a:rPr lang="en-US" sz="2800" dirty="0">
                <a:solidFill>
                  <a:srgbClr val="373D3F"/>
                </a:solidFill>
                <a:latin typeface="Times New Roman" panose="02020603050405020304" pitchFamily="18" charset="0"/>
                <a:ea typeface="Times New Roman" panose="02020603050405020304" pitchFamily="18" charset="0"/>
                <a:cs typeface="Arial" panose="020B0604020202020204" pitchFamily="34" charset="0"/>
              </a:rPr>
              <a:t> carry blood away from the heart, regardless of the degree of blood oxygenation. </a:t>
            </a:r>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Veins</a:t>
            </a:r>
            <a:r>
              <a:rPr lang="en-US" sz="28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 </a:t>
            </a:r>
            <a:r>
              <a:rPr lang="en-US" sz="2800" dirty="0">
                <a:solidFill>
                  <a:srgbClr val="373D3F"/>
                </a:solidFill>
                <a:latin typeface="Times New Roman" panose="02020603050405020304" pitchFamily="18" charset="0"/>
                <a:ea typeface="Times New Roman" panose="02020603050405020304" pitchFamily="18" charset="0"/>
                <a:cs typeface="Arial" panose="020B0604020202020204" pitchFamily="34" charset="0"/>
              </a:rPr>
              <a:t>carry blood toward the heart. Between arteries and veins, there is a network of </a:t>
            </a:r>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capillaries</a:t>
            </a:r>
            <a:r>
              <a:rPr lang="en-US" sz="2800" dirty="0">
                <a:solidFill>
                  <a:srgbClr val="373D3F"/>
                </a:solidFill>
                <a:latin typeface="Times New Roman" panose="02020603050405020304" pitchFamily="18" charset="0"/>
                <a:ea typeface="Times New Roman" panose="02020603050405020304" pitchFamily="18" charset="0"/>
                <a:cs typeface="Arial" panose="020B0604020202020204" pitchFamily="34" charset="0"/>
              </a:rPr>
              <a:t> that spread inside all organs, reaching practically every cell in the body. The thin walls of capillaries allow for the passage of substances between blood and interstitial fluid, surrounding the cells bringing nutrients, gases and signaling molecules to the cells and removing waste to the blood  stream. Capillaries are therefore known as the exchange vessels.</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56138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56343"/>
            <a:ext cx="9279466" cy="5185019"/>
          </a:xfrm>
        </p:spPr>
        <p:txBody>
          <a:bodyPr>
            <a:noAutofit/>
          </a:bodyPr>
          <a:lstStyle/>
          <a:p>
            <a:pPr marL="0" algn="just">
              <a:lnSpc>
                <a:spcPct val="150000"/>
              </a:lnSpc>
              <a:spcBef>
                <a:spcPts val="1200"/>
              </a:spcBef>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Walls of both arteries and veins have the same three-layered structure. Moving from the inside to outside, these layers, called tunics (singular tunica), are:</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1- Tunica intima (innermost)</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2- Tunica media (middle)</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3- Tunica adventitia (outermost)</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5000"/>
              </a:lnSpc>
              <a:spcBef>
                <a:spcPts val="0"/>
              </a:spcBef>
              <a:buNone/>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15000"/>
              </a:lnSpc>
              <a:spcBef>
                <a:spcPts val="0"/>
              </a:spcBef>
              <a:buNone/>
            </a:pPr>
            <a:r>
              <a:rPr lang="en-US" sz="32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8166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37029"/>
            <a:ext cx="8596668" cy="957942"/>
          </a:xfrm>
        </p:spPr>
        <p:txBody>
          <a:bodyPr>
            <a:noAutofit/>
          </a:bodyPr>
          <a:lstStyle/>
          <a:p>
            <a:pPr lvl="0" indent="-342900" algn="ctr">
              <a:lnSpc>
                <a:spcPct val="115000"/>
              </a:lnSpc>
              <a:spcBef>
                <a:spcPts val="0"/>
              </a:spcBef>
            </a:pPr>
            <a:r>
              <a:rPr lang="en-US" b="1"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1-Tunica intima</a:t>
            </a:r>
            <a:br>
              <a:rPr lang="en-US"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93371"/>
            <a:ext cx="8916609" cy="4647992"/>
          </a:xfrm>
        </p:spPr>
        <p:txBody>
          <a:bodyPr>
            <a:noAutofit/>
          </a:bodyPr>
          <a:lstStyle/>
          <a:p>
            <a:pPr marL="0" algn="just">
              <a:lnSpc>
                <a:spcPct val="115000"/>
              </a:lnSpc>
              <a:spcBef>
                <a:spcPts val="0"/>
              </a:spcBef>
            </a:pPr>
            <a:r>
              <a:rPr lang="en-US" sz="28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The tunica intima is composed of a single layer of a specialized simple squamous epithelium called endothelium that lies on a basement membrane.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28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Under the microscope, the endothelial lining is very thin and can be identified by the nuclei of the simple squamous epithelial cells that protrude into the lumen of the blood vessel.</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15000"/>
              </a:lnSpc>
              <a:spcBef>
                <a:spcPts val="0"/>
              </a:spcBef>
            </a:pPr>
            <a:r>
              <a:rPr lang="en-US" sz="28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The tunica intima of arteries appears wavy because of the elastic fibers below it. This “wrinkling” allows for stretching without excessive stress on the endothelial cell layer.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5329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61951"/>
            <a:ext cx="9590616" cy="5679412"/>
          </a:xfrm>
        </p:spPr>
        <p:txBody>
          <a:bodyPr/>
          <a:lstStyle/>
          <a:p>
            <a:pPr marL="0" lvl="0" algn="just">
              <a:lnSpc>
                <a:spcPct val="115000"/>
              </a:lnSpc>
              <a:spcBef>
                <a:spcPts val="0"/>
              </a:spcBef>
              <a:buClr>
                <a:srgbClr val="5FCBEF"/>
              </a:buClr>
            </a:pPr>
            <a:r>
              <a:rPr lang="en-US" sz="28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The tunica intima of a vein appears smooth as veins have no elastic fibers in their structure.</a:t>
            </a:r>
            <a:r>
              <a:rPr lang="en-US" sz="2800"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t> </a:t>
            </a:r>
            <a:r>
              <a:rPr lang="en-US" sz="2800" dirty="0">
                <a:solidFill>
                  <a:srgbClr val="373D3F"/>
                </a:solidFill>
                <a:latin typeface="Times New Roman" panose="02020603050405020304" pitchFamily="18" charset="0"/>
                <a:ea typeface="Times New Roman" panose="02020603050405020304" pitchFamily="18" charset="0"/>
                <a:cs typeface="Times New Roman" panose="02020603050405020304" pitchFamily="18" charset="0"/>
              </a:rPr>
              <a:t>In large arteries, there is also an additional layer of elastic fibers known as the internal elastic membrane. The internal elastic membrane is not present in veins.</a:t>
            </a:r>
          </a:p>
          <a:p>
            <a:pPr marL="0" lvl="0" algn="just">
              <a:lnSpc>
                <a:spcPct val="115000"/>
              </a:lnSpc>
              <a:spcBef>
                <a:spcPts val="0"/>
              </a:spcBef>
              <a:buClr>
                <a:srgbClr val="5FCBEF"/>
              </a:buClr>
            </a:pPr>
            <a:endParaRPr lang="en-US" sz="2800"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95351" y="2524836"/>
            <a:ext cx="9105900" cy="4047414"/>
          </a:xfrm>
          <a:prstGeom prst="rect">
            <a:avLst/>
          </a:prstGeom>
        </p:spPr>
      </p:pic>
    </p:spTree>
    <p:extLst>
      <p:ext uri="{BB962C8B-B14F-4D97-AF65-F5344CB8AC3E}">
        <p14:creationId xmlns:p14="http://schemas.microsoft.com/office/powerpoint/2010/main" val="460029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14400" y="705394"/>
            <a:ext cx="8543499" cy="4781006"/>
          </a:xfrm>
          <a:prstGeom prst="rect">
            <a:avLst/>
          </a:prstGeom>
        </p:spPr>
      </p:pic>
      <p:sp>
        <p:nvSpPr>
          <p:cNvPr id="5" name="Rectangle 4"/>
          <p:cNvSpPr/>
          <p:nvPr/>
        </p:nvSpPr>
        <p:spPr>
          <a:xfrm rot="10800000" flipV="1">
            <a:off x="914399" y="5685881"/>
            <a:ext cx="9653451" cy="52322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Arrows indicating the nuclei of the simple squamous epithelium</a:t>
            </a:r>
          </a:p>
        </p:txBody>
      </p:sp>
    </p:spTree>
    <p:extLst>
      <p:ext uri="{BB962C8B-B14F-4D97-AF65-F5344CB8AC3E}">
        <p14:creationId xmlns:p14="http://schemas.microsoft.com/office/powerpoint/2010/main" val="3033614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35874"/>
          </a:xfrm>
        </p:spPr>
        <p:txBody>
          <a:bodyPr>
            <a:normAutofit fontScale="90000"/>
          </a:bodyPr>
          <a:lstStyle/>
          <a:p>
            <a:pPr lvl="0" indent="-342900" algn="ctr">
              <a:lnSpc>
                <a:spcPct val="107000"/>
              </a:lnSpc>
              <a:spcBef>
                <a:spcPts val="0"/>
              </a:spcBef>
              <a:spcAft>
                <a:spcPts val="800"/>
              </a:spcAft>
              <a:tabLst>
                <a:tab pos="1981200" algn="l"/>
              </a:tabLst>
            </a:pPr>
            <a:r>
              <a:rPr lang="en-US"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 Tunica media</a:t>
            </a:r>
            <a:br>
              <a:rPr lang="en-US"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4950" y="1214847"/>
            <a:ext cx="9823268" cy="4826516"/>
          </a:xfrm>
        </p:spPr>
        <p:txBody>
          <a:bodyPr>
            <a:noAutofit/>
          </a:bodyPr>
          <a:lstStyle/>
          <a:p>
            <a:pPr marL="0" marR="0" algn="just">
              <a:lnSpc>
                <a:spcPct val="107000"/>
              </a:lnSpc>
              <a:spcBef>
                <a:spcPts val="0"/>
              </a:spcBef>
              <a:spcAft>
                <a:spcPts val="800"/>
              </a:spcAft>
              <a:tabLst>
                <a:tab pos="1981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The tunica media is the middle layer of the vessel wall. It is a layer of smooth muscle with some elastic and collagen fibers mixed in. </a:t>
            </a:r>
          </a:p>
          <a:p>
            <a:pPr marL="0" marR="0" algn="just">
              <a:lnSpc>
                <a:spcPct val="107000"/>
              </a:lnSpc>
              <a:spcBef>
                <a:spcPts val="0"/>
              </a:spcBef>
              <a:spcAft>
                <a:spcPts val="800"/>
              </a:spcAft>
              <a:tabLst>
                <a:tab pos="1981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Under the microscope, the tunica media is the thickest layer in arteries, and is much thicker in arteries than it is in veins. The elastic fibers within this layer appear as wavy lines between the smooth muscle cells.</a:t>
            </a:r>
          </a:p>
          <a:p>
            <a:pPr marL="0" marR="0" algn="just">
              <a:lnSpc>
                <a:spcPct val="107000"/>
              </a:lnSpc>
              <a:spcBef>
                <a:spcPts val="0"/>
              </a:spcBef>
              <a:spcAft>
                <a:spcPts val="800"/>
              </a:spcAft>
              <a:tabLst>
                <a:tab pos="198120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In larger arteries, separating the tunica media from the tunica adventitia is the external elastic membrane. </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01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79094"/>
            <a:ext cx="8596668" cy="1058779"/>
          </a:xfrm>
        </p:spPr>
        <p:txBody>
          <a:bodyPr>
            <a:normAutofit fontScale="90000"/>
          </a:bodyPr>
          <a:lstStyle/>
          <a:p>
            <a:pPr lvl="0" indent="-342900" algn="ctr">
              <a:lnSpc>
                <a:spcPct val="107000"/>
              </a:lnSpc>
              <a:spcBef>
                <a:spcPts val="0"/>
              </a:spcBef>
              <a:spcAft>
                <a:spcPts val="800"/>
              </a:spcAft>
              <a:tabLst>
                <a:tab pos="1981200" algn="l"/>
              </a:tabLst>
            </a:pPr>
            <a:r>
              <a:rPr lang="en-US" sz="32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3- Tunica adventitia </a:t>
            </a:r>
            <a:br>
              <a:rPr lang="en-US" sz="3200" dirty="0">
                <a:solidFill>
                  <a:prstClr val="black">
                    <a:lumMod val="75000"/>
                    <a:lumOff val="25000"/>
                  </a:prstClr>
                </a:solidFill>
                <a:latin typeface="Calibri" panose="020F0502020204030204" pitchFamily="34" charset="0"/>
                <a:ea typeface="Calibri" panose="020F0502020204030204" pitchFamily="34" charset="0"/>
                <a:cs typeface="Arial" panose="020B0604020202020204" pitchFamily="34" charset="0"/>
              </a:rPr>
            </a:br>
            <a:endParaRPr lang="en-US" sz="3200" dirty="0"/>
          </a:p>
        </p:txBody>
      </p:sp>
      <p:sp>
        <p:nvSpPr>
          <p:cNvPr id="3" name="Content Placeholder 2"/>
          <p:cNvSpPr>
            <a:spLocks noGrp="1"/>
          </p:cNvSpPr>
          <p:nvPr>
            <p:ph idx="1"/>
          </p:nvPr>
        </p:nvSpPr>
        <p:spPr>
          <a:xfrm>
            <a:off x="677334" y="1913021"/>
            <a:ext cx="8596668" cy="4128342"/>
          </a:xfrm>
        </p:spPr>
        <p:txBody>
          <a:bodyPr>
            <a:normAutofit/>
          </a:bodyPr>
          <a:lstStyle/>
          <a:p>
            <a:pPr marL="0" marR="0" algn="just">
              <a:lnSpc>
                <a:spcPct val="107000"/>
              </a:lnSpc>
              <a:spcBef>
                <a:spcPts val="0"/>
              </a:spcBef>
              <a:spcAft>
                <a:spcPts val="800"/>
              </a:spcAft>
              <a:tabLst>
                <a:tab pos="1981200" algn="l"/>
              </a:tabLst>
            </a:pPr>
            <a:r>
              <a:rPr lang="en-US" sz="3200" dirty="0">
                <a:latin typeface="Times New Roman" panose="02020603050405020304" pitchFamily="18" charset="0"/>
                <a:ea typeface="Calibri" panose="020F0502020204030204" pitchFamily="34" charset="0"/>
                <a:cs typeface="Arial" panose="020B0604020202020204" pitchFamily="34" charset="0"/>
              </a:rPr>
              <a:t>The tunica adventitia is a layer of connective tissue composed of ordinary C.T. containing fibroblast, Collagen and elastic fibers .The tunica adventitia is normally the thickest layer in veins . </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42075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01842"/>
          </a:xfrm>
        </p:spPr>
        <p:txBody>
          <a:bodyPr>
            <a:noAutofit/>
          </a:bodyPr>
          <a:lstStyle/>
          <a:p>
            <a:pPr lvl="0" indent="-342900" algn="ctr">
              <a:lnSpc>
                <a:spcPct val="107000"/>
              </a:lnSpc>
              <a:spcBef>
                <a:spcPts val="0"/>
              </a:spcBef>
              <a:spcAft>
                <a:spcPts val="800"/>
              </a:spcAft>
            </a:pPr>
            <a:r>
              <a:rPr lang="en-US"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Types of blood vessels:</a:t>
            </a:r>
            <a:br>
              <a:rPr lang="en-US"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60946" y="1203158"/>
            <a:ext cx="11141243" cy="5390147"/>
          </a:xfrm>
        </p:spPr>
        <p:txBody>
          <a:bodyPr>
            <a:noAutofit/>
          </a:bodyPr>
          <a:lstStyle/>
          <a:p>
            <a:pPr marL="0" marR="0">
              <a:lnSpc>
                <a:spcPct val="107000"/>
              </a:lnSpc>
              <a:spcBef>
                <a:spcPts val="0"/>
              </a:spcBef>
              <a:spcAft>
                <a:spcPts val="8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There are 3 main types of vessels </a:t>
            </a:r>
          </a:p>
          <a:p>
            <a:pPr marL="0" marR="0">
              <a:lnSpc>
                <a:spcPct val="107000"/>
              </a:lnSpc>
              <a:spcBef>
                <a:spcPts val="0"/>
              </a:spcBef>
              <a:spcAft>
                <a:spcPts val="800"/>
              </a:spcAft>
              <a:tabLst>
                <a:tab pos="1454150" algn="l"/>
              </a:tabLs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Arteries (A)</a:t>
            </a:r>
            <a:r>
              <a:rPr lang="en-US"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a:latin typeface="Times New Roman" panose="02020603050405020304" pitchFamily="18" charset="0"/>
                <a:ea typeface="Calibri" panose="020F0502020204030204" pitchFamily="34" charset="0"/>
                <a:cs typeface="Times New Roman" panose="02020603050405020304" pitchFamily="18" charset="0"/>
              </a:rPr>
              <a:t>: carry blood from heart to the body (elastic and muscular arteries)</a:t>
            </a:r>
          </a:p>
          <a:p>
            <a:pPr marL="0" marR="0">
              <a:lnSpc>
                <a:spcPct val="107000"/>
              </a:lnSpc>
              <a:spcBef>
                <a:spcPts val="0"/>
              </a:spcBef>
              <a:spcAft>
                <a:spcPts val="800"/>
              </a:spcAft>
              <a:tabLst>
                <a:tab pos="1454150" algn="l"/>
              </a:tabLs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Arterioles:</a:t>
            </a:r>
            <a:r>
              <a:rPr lang="en-US" sz="3200" dirty="0">
                <a:latin typeface="Times New Roman" panose="02020603050405020304" pitchFamily="18" charset="0"/>
                <a:ea typeface="Calibri" panose="020F0502020204030204" pitchFamily="34" charset="0"/>
                <a:cs typeface="Times New Roman" panose="02020603050405020304" pitchFamily="18" charset="0"/>
              </a:rPr>
              <a:t> deliver blood to capillaries</a:t>
            </a:r>
          </a:p>
          <a:p>
            <a:pPr marL="0" marR="0">
              <a:lnSpc>
                <a:spcPct val="107000"/>
              </a:lnSpc>
              <a:spcBef>
                <a:spcPts val="0"/>
              </a:spcBef>
              <a:spcAft>
                <a:spcPts val="800"/>
              </a:spcAft>
              <a:tabLst>
                <a:tab pos="1454150" algn="l"/>
              </a:tabLs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A-V junctions.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454150" algn="l"/>
              </a:tabLst>
            </a:pPr>
            <a:r>
              <a:rPr lang="en-US" sz="3200" b="1" u="sng"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Venules</a:t>
            </a: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en-US" sz="3200" dirty="0">
                <a:latin typeface="Times New Roman" panose="02020603050405020304" pitchFamily="18" charset="0"/>
                <a:ea typeface="Calibri" panose="020F0502020204030204" pitchFamily="34" charset="0"/>
                <a:cs typeface="Times New Roman" panose="02020603050405020304" pitchFamily="18" charset="0"/>
              </a:rPr>
              <a:t> drain blood from the capillaries.</a:t>
            </a:r>
          </a:p>
          <a:p>
            <a:pPr marL="0" marR="0">
              <a:lnSpc>
                <a:spcPct val="107000"/>
              </a:lnSpc>
              <a:spcBef>
                <a:spcPts val="0"/>
              </a:spcBef>
              <a:spcAft>
                <a:spcPts val="800"/>
              </a:spcAft>
              <a:tabLst>
                <a:tab pos="1454150" algn="l"/>
              </a:tabLs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Veins (V):</a:t>
            </a:r>
            <a:r>
              <a:rPr lang="en-US"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a:latin typeface="Times New Roman" panose="02020603050405020304" pitchFamily="18" charset="0"/>
                <a:ea typeface="Calibri" panose="020F0502020204030204" pitchFamily="34" charset="0"/>
                <a:cs typeface="Times New Roman" panose="02020603050405020304" pitchFamily="18" charset="0"/>
              </a:rPr>
              <a:t>collecting vessels that bring blood back to the heart.</a:t>
            </a:r>
          </a:p>
          <a:p>
            <a:pPr marL="0" marR="0">
              <a:lnSpc>
                <a:spcPct val="107000"/>
              </a:lnSpc>
              <a:spcBef>
                <a:spcPts val="0"/>
              </a:spcBef>
              <a:spcAft>
                <a:spcPts val="800"/>
              </a:spcAft>
              <a:tabLst>
                <a:tab pos="1454150" algn="l"/>
              </a:tabLst>
            </a:pPr>
            <a:r>
              <a:rPr lang="en-US" sz="3200" dirty="0">
                <a:latin typeface="Times New Roman" panose="02020603050405020304" pitchFamily="18" charset="0"/>
                <a:ea typeface="Calibri" panose="020F0502020204030204" pitchFamily="34" charset="0"/>
                <a:cs typeface="Times New Roman" panose="02020603050405020304" pitchFamily="18" charset="0"/>
              </a:rPr>
              <a:t>Generally, arteries have a thick wall with a narrow lumen, while veins have thin wall and a wide lumen.</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3399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19100" y="177800"/>
            <a:ext cx="10052960" cy="6565900"/>
          </a:xfrm>
          <a:prstGeom prst="rect">
            <a:avLst/>
          </a:prstGeom>
        </p:spPr>
      </p:pic>
    </p:spTree>
    <p:extLst>
      <p:ext uri="{BB962C8B-B14F-4D97-AF65-F5344CB8AC3E}">
        <p14:creationId xmlns:p14="http://schemas.microsoft.com/office/powerpoint/2010/main" val="3239365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600" y="685800"/>
            <a:ext cx="9982200" cy="5892800"/>
          </a:xfrm>
        </p:spPr>
        <p:txBody>
          <a:bodyPr>
            <a:noAutofit/>
          </a:bodyPr>
          <a:lstStyle/>
          <a:p>
            <a:pPr marL="0" marR="0">
              <a:lnSpc>
                <a:spcPct val="107000"/>
              </a:lnSpc>
              <a:spcBef>
                <a:spcPts val="0"/>
              </a:spcBef>
              <a:spcAft>
                <a:spcPts val="800"/>
              </a:spcAf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Arteries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An artery is a blood vessel that conducts blood away from the heart. All arteries have relatively thick walls that can withstand the high pressure of blood ejected from the heart.</a:t>
            </a:r>
          </a:p>
          <a:p>
            <a:pPr marL="0" marR="0" algn="just">
              <a:lnSpc>
                <a:spcPct val="107000"/>
              </a:lnSpc>
              <a:spcBef>
                <a:spcPts val="0"/>
              </a:spcBef>
              <a:spcAft>
                <a:spcPts val="8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Based on their distance from the heart, arteries can be divided into three types:</a:t>
            </a:r>
          </a:p>
          <a:p>
            <a:pPr marL="0">
              <a:lnSpc>
                <a:spcPct val="107000"/>
              </a:lnSpc>
              <a:spcBef>
                <a:spcPts val="0"/>
              </a:spcBef>
            </a:pPr>
            <a:r>
              <a:rPr lang="en-US" sz="3200"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a:latin typeface="Times New Roman" panose="02020603050405020304" pitchFamily="18" charset="0"/>
                <a:ea typeface="Calibri" panose="020F0502020204030204" pitchFamily="34" charset="0"/>
                <a:cs typeface="Times New Roman" panose="02020603050405020304" pitchFamily="18" charset="0"/>
              </a:rPr>
              <a:t>Large Elastic arteries.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r>
              <a:rPr lang="en-US" sz="3200" b="1" dirty="0">
                <a:latin typeface="Times New Roman" panose="02020603050405020304" pitchFamily="18" charset="0"/>
                <a:ea typeface="Calibri" panose="020F0502020204030204" pitchFamily="34" charset="0"/>
                <a:cs typeface="Times New Roman" panose="02020603050405020304" pitchFamily="18" charset="0"/>
              </a:rPr>
              <a:t>•	Muscular arteries.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r>
              <a:rPr lang="en-US" sz="3200" b="1" dirty="0">
                <a:latin typeface="Times New Roman" panose="02020603050405020304" pitchFamily="18" charset="0"/>
                <a:ea typeface="Calibri" panose="020F0502020204030204" pitchFamily="34" charset="0"/>
                <a:cs typeface="Times New Roman" panose="02020603050405020304" pitchFamily="18" charset="0"/>
              </a:rPr>
              <a:t>•	Arterioles.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8601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5" y="191068"/>
            <a:ext cx="10972799" cy="6666931"/>
          </a:xfrm>
        </p:spPr>
        <p:txBody>
          <a:bodyPr>
            <a:noAutofit/>
          </a:bodyPr>
          <a:lstStyle/>
          <a:p>
            <a:pPr lvl="0" algn="ctr">
              <a:lnSpc>
                <a:spcPct val="107000"/>
              </a:lnSpc>
              <a:spcBef>
                <a:spcPts val="0"/>
              </a:spcBef>
              <a:spcAft>
                <a:spcPts val="800"/>
              </a:spcAft>
              <a:buFont typeface="+mj-lt"/>
              <a:buAutoNum type="arabicPeriod"/>
            </a:pP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Large Elastic Arteries (Aorta)</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Elastic arteries or conducting arteries, comprise large arteries that leave the heart. The aorta and the major first branches from the heart, such as the brachiocephalic artery, common carotid, and subclavian belong to this category.</a:t>
            </a:r>
          </a:p>
          <a:p>
            <a:pPr marL="0" marR="0">
              <a:lnSpc>
                <a:spcPct val="107000"/>
              </a:lnSpc>
              <a:spcBef>
                <a:spcPts val="0"/>
              </a:spcBef>
              <a:spcAft>
                <a:spcPts val="800"/>
              </a:spcAft>
            </a:pP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Histological Features: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Bef>
                <a:spcPts val="0"/>
              </a:spcBef>
              <a:spcAft>
                <a:spcPts val="800"/>
              </a:spcAft>
              <a:buFont typeface="+mj-lt"/>
              <a:buAutoNum type="arabicPeriod"/>
            </a:pPr>
            <a:r>
              <a:rPr lang="en-US" sz="2400" b="1" u="sng" dirty="0">
                <a:latin typeface="Times New Roman" panose="02020603050405020304" pitchFamily="18" charset="0"/>
                <a:ea typeface="Calibri" panose="020F0502020204030204" pitchFamily="34" charset="0"/>
                <a:cs typeface="Times New Roman" panose="02020603050405020304" pitchFamily="18" charset="0"/>
              </a:rPr>
              <a:t>Tunica intima: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It is composed of an endothelium supported by a narrow sub endothelial layer of </a:t>
            </a:r>
          </a:p>
          <a:p>
            <a:pPr marL="0" marR="0" indent="0">
              <a:lnSpc>
                <a:spcPct val="107000"/>
              </a:lnSpc>
              <a:spcBef>
                <a:spcPts val="0"/>
              </a:spcBef>
              <a:spcAft>
                <a:spcPts val="8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C.T. The internal elastic lamina is present but indistinct.</a:t>
            </a:r>
          </a:p>
          <a:p>
            <a:pPr marL="0" marR="0" indent="0">
              <a:lnSpc>
                <a:spcPct val="107000"/>
              </a:lnSpc>
              <a:spcBef>
                <a:spcPts val="0"/>
              </a:spcBef>
              <a:spcAft>
                <a:spcPts val="8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u="sng" dirty="0">
                <a:latin typeface="Times New Roman" panose="02020603050405020304" pitchFamily="18" charset="0"/>
                <a:ea typeface="Calibri" panose="020F0502020204030204" pitchFamily="34" charset="0"/>
                <a:cs typeface="Times New Roman" panose="02020603050405020304" pitchFamily="18" charset="0"/>
              </a:rPr>
              <a:t>2- Tunica media: (the thickest layer):</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It consists of many fenestrated lamellae of elastin alternating with circularly </a:t>
            </a:r>
          </a:p>
          <a:p>
            <a:pPr marL="0" marR="0" indent="0">
              <a:lnSpc>
                <a:spcPct val="107000"/>
              </a:lnSpc>
              <a:spcBef>
                <a:spcPts val="0"/>
              </a:spcBef>
              <a:spcAft>
                <a:spcPts val="8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oriented layers of smooth muscle cells. Smooth muscle cells are less abundant </a:t>
            </a:r>
          </a:p>
          <a:p>
            <a:pPr marL="0" marR="0" indent="0">
              <a:lnSpc>
                <a:spcPct val="107000"/>
              </a:lnSpc>
              <a:spcBef>
                <a:spcPts val="0"/>
              </a:spcBef>
              <a:spcAft>
                <a:spcPts val="800"/>
              </a:spcAft>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     in elastic arteries. </a:t>
            </a:r>
          </a:p>
          <a:p>
            <a:pPr lvl="0">
              <a:lnSpc>
                <a:spcPct val="107000"/>
              </a:lnSpc>
              <a:spcBef>
                <a:spcPts val="0"/>
              </a:spcBef>
              <a:spcAft>
                <a:spcPts val="800"/>
              </a:spcAft>
              <a:buFont typeface="+mj-lt"/>
              <a:buAutoNum type="arabicPeriod" startAt="3"/>
            </a:pPr>
            <a:r>
              <a:rPr lang="en-US" sz="2400" b="1" u="sng" dirty="0">
                <a:latin typeface="Times New Roman" panose="02020603050405020304" pitchFamily="18" charset="0"/>
                <a:ea typeface="Calibri" panose="020F0502020204030204" pitchFamily="34" charset="0"/>
                <a:cs typeface="Times New Roman" panose="02020603050405020304" pitchFamily="18" charset="0"/>
              </a:rPr>
              <a:t>Tunica Adventitia</a:t>
            </a:r>
            <a:r>
              <a:rPr lang="en-US" sz="2400" dirty="0">
                <a:latin typeface="Times New Roman" panose="02020603050405020304" pitchFamily="18" charset="0"/>
                <a:ea typeface="Calibri" panose="020F0502020204030204" pitchFamily="34" charset="0"/>
                <a:cs typeface="Times New Roman" panose="02020603050405020304" pitchFamily="18" charset="0"/>
              </a:rPr>
              <a:t> :It is thin layer of loose </a:t>
            </a:r>
            <a:r>
              <a:rPr lang="en-US" sz="2400" dirty="0" err="1">
                <a:latin typeface="Times New Roman" panose="02020603050405020304" pitchFamily="18" charset="0"/>
                <a:ea typeface="Calibri" panose="020F0502020204030204" pitchFamily="34" charset="0"/>
                <a:cs typeface="Times New Roman" panose="02020603050405020304" pitchFamily="18" charset="0"/>
              </a:rPr>
              <a:t>fibroelastic</a:t>
            </a:r>
            <a:r>
              <a:rPr lang="en-US" sz="2400" dirty="0">
                <a:latin typeface="Times New Roman" panose="02020603050405020304" pitchFamily="18" charset="0"/>
                <a:ea typeface="Calibri" panose="020F0502020204030204" pitchFamily="34" charset="0"/>
                <a:cs typeface="Times New Roman" panose="02020603050405020304" pitchFamily="18" charset="0"/>
              </a:rPr>
              <a:t> C.T. containing vasa </a:t>
            </a:r>
            <a:r>
              <a:rPr lang="en-US" sz="2400" dirty="0" err="1">
                <a:latin typeface="Times New Roman" panose="02020603050405020304" pitchFamily="18" charset="0"/>
                <a:ea typeface="Calibri" panose="020F0502020204030204" pitchFamily="34" charset="0"/>
                <a:cs typeface="Times New Roman" panose="02020603050405020304" pitchFamily="18" charset="0"/>
              </a:rPr>
              <a:t>vasorum</a:t>
            </a:r>
            <a:r>
              <a:rPr lang="en-US" sz="2400" dirty="0">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3139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77922" y="632810"/>
            <a:ext cx="9921923" cy="5945411"/>
          </a:xfrm>
          <a:prstGeom prst="rect">
            <a:avLst/>
          </a:prstGeom>
        </p:spPr>
      </p:pic>
    </p:spTree>
    <p:extLst>
      <p:ext uri="{BB962C8B-B14F-4D97-AF65-F5344CB8AC3E}">
        <p14:creationId xmlns:p14="http://schemas.microsoft.com/office/powerpoint/2010/main" val="2246340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00251"/>
            <a:ext cx="10595912" cy="5741111"/>
          </a:xfrm>
        </p:spPr>
        <p:txBody>
          <a:bodyPr>
            <a:noAutofit/>
          </a:bodyPr>
          <a:lstStyle/>
          <a:p>
            <a:pPr marL="0" lvl="0" indent="0" algn="ctr">
              <a:lnSpc>
                <a:spcPct val="150000"/>
              </a:lnSpc>
              <a:spcBef>
                <a:spcPts val="0"/>
              </a:spcBef>
              <a:buNone/>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Large Veins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Bef>
                <a:spcPts val="0"/>
              </a:spcBef>
            </a:pP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These vessels have a diameter larger than 10 mm, such as the venae cava, pulmonary vein, renal, adrenal, splenic and superior mesenteric veins.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Bef>
                <a:spcPts val="0"/>
              </a:spcBef>
            </a:pPr>
            <a:r>
              <a:rPr lang="en-US" sz="2400" b="1" u="sng"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Histological Features: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Bef>
                <a:spcPts val="0"/>
              </a:spcBef>
            </a:pP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Their walls have three layers: -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Bef>
                <a:spcPts val="0"/>
              </a:spcBef>
              <a:buFont typeface="+mj-lt"/>
              <a:buAutoNum type="arabicPeriod"/>
            </a:pPr>
            <a:r>
              <a:rPr lang="en-US" sz="2400" b="1" u="sng"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tunica intima</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consists of an endothelial lining with basal lamina, a small amount of sub endothelial connective tissue and smooth muscle cells, which are close to the intimal endothelium.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Bef>
                <a:spcPts val="0"/>
              </a:spcBef>
              <a:buFont typeface="+mj-lt"/>
              <a:buAutoNum type="arabicPeriod"/>
            </a:pPr>
            <a:r>
              <a:rPr lang="en-US" sz="2400" b="1" u="sng"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tunica media </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the thin layer</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which contains few smooth muscle cells, collagen fibers and some fibroblasts. </a:t>
            </a:r>
            <a:r>
              <a:rPr 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 internal or external elastic Lamina.</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1057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785" y="573207"/>
            <a:ext cx="10481481" cy="5468156"/>
          </a:xfrm>
        </p:spPr>
        <p:txBody>
          <a:bodyPr/>
          <a:lstStyle/>
          <a:p>
            <a:pPr lvl="0" algn="just">
              <a:lnSpc>
                <a:spcPct val="150000"/>
              </a:lnSpc>
              <a:spcBef>
                <a:spcPts val="0"/>
              </a:spcBef>
              <a:buClr>
                <a:srgbClr val="5FCBEF"/>
              </a:buClr>
              <a:buFont typeface="+mj-lt"/>
              <a:buAutoNum type="arabicPeriod"/>
            </a:pPr>
            <a:r>
              <a:rPr lang="en-US" sz="2400" b="1" u="sng"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The tunica adventitia </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the thickest layer of the vessel wall, which consists of collagen, elastic fibers, fibroblasts and vasa </a:t>
            </a:r>
            <a:r>
              <a:rPr lang="en-US" sz="24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vasorum</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endParaRPr>
          </a:p>
          <a:p>
            <a:pPr marL="0" lvl="0" algn="just">
              <a:lnSpc>
                <a:spcPct val="150000"/>
              </a:lnSpc>
              <a:spcBef>
                <a:spcPts val="0"/>
              </a:spcBef>
              <a:spcAft>
                <a:spcPts val="800"/>
              </a:spcAft>
              <a:buClr>
                <a:srgbClr val="5FCBEF"/>
              </a:buClr>
            </a:pPr>
            <a:r>
              <a:rPr lang="en-US" sz="2400" b="1" u="sng"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t>NB.</a:t>
            </a:r>
            <a:r>
              <a:rPr lang="en-US" sz="2400" dirty="0">
                <a:solidFill>
                  <a:prstClr val="black">
                    <a:lumMod val="75000"/>
                    <a:lumOff val="25000"/>
                  </a:prstClr>
                </a:solidFill>
                <a:latin typeface="Times New Roman" panose="02020603050405020304" pitchFamily="18" charset="0"/>
                <a:ea typeface="Calibri" panose="020F0502020204030204" pitchFamily="34" charset="0"/>
                <a:cs typeface="Times New Roman" panose="02020603050405020304" pitchFamily="18" charset="0"/>
              </a:rPr>
              <a:t> The inferior vena cava has longitudinally arranged bundles of smooth muscle fibers. Contraction of these muscle fibers helps in propelling blood towards the heart against gravity. </a:t>
            </a:r>
          </a:p>
          <a:p>
            <a:endParaRPr lang="en-US" dirty="0"/>
          </a:p>
        </p:txBody>
      </p:sp>
      <p:pic>
        <p:nvPicPr>
          <p:cNvPr id="4" name="Picture 3"/>
          <p:cNvPicPr>
            <a:picLocks noChangeAspect="1"/>
          </p:cNvPicPr>
          <p:nvPr/>
        </p:nvPicPr>
        <p:blipFill>
          <a:blip r:embed="rId2"/>
          <a:stretch>
            <a:fillRect/>
          </a:stretch>
        </p:blipFill>
        <p:spPr>
          <a:xfrm>
            <a:off x="2224585" y="3357349"/>
            <a:ext cx="6455391" cy="3166280"/>
          </a:xfrm>
          <a:prstGeom prst="rect">
            <a:avLst/>
          </a:prstGeom>
        </p:spPr>
      </p:pic>
    </p:spTree>
    <p:extLst>
      <p:ext uri="{BB962C8B-B14F-4D97-AF65-F5344CB8AC3E}">
        <p14:creationId xmlns:p14="http://schemas.microsoft.com/office/powerpoint/2010/main" val="3087694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9307" y="313899"/>
            <a:ext cx="10631606" cy="6544101"/>
          </a:xfrm>
          <a:prstGeom prst="rect">
            <a:avLst/>
          </a:prstGeom>
        </p:spPr>
      </p:pic>
    </p:spTree>
    <p:extLst>
      <p:ext uri="{BB962C8B-B14F-4D97-AF65-F5344CB8AC3E}">
        <p14:creationId xmlns:p14="http://schemas.microsoft.com/office/powerpoint/2010/main" val="3266288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73206" y="327546"/>
            <a:ext cx="9259875" cy="5950424"/>
          </a:xfrm>
          <a:prstGeom prst="rect">
            <a:avLst/>
          </a:prstGeom>
        </p:spPr>
      </p:pic>
    </p:spTree>
    <p:extLst>
      <p:ext uri="{BB962C8B-B14F-4D97-AF65-F5344CB8AC3E}">
        <p14:creationId xmlns:p14="http://schemas.microsoft.com/office/powerpoint/2010/main" val="375215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423081"/>
            <a:ext cx="10631606" cy="5618282"/>
          </a:xfrm>
        </p:spPr>
        <p:txBody>
          <a:bodyPr>
            <a:noAutofit/>
          </a:bodyPr>
          <a:lstStyle/>
          <a:p>
            <a:pPr marL="0" marR="0">
              <a:lnSpc>
                <a:spcPct val="150000"/>
              </a:lnSpc>
              <a:spcBef>
                <a:spcPts val="0"/>
              </a:spcBef>
              <a:spcAft>
                <a:spcPts val="800"/>
              </a:spcAf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Vasa </a:t>
            </a:r>
            <a:r>
              <a:rPr lang="en-US" sz="2800" b="1" u="sng"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vasorum</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The walls of arteries and veins are composed of living cells that require nourishment and produce waste. Since blood passes through the larger vessels relatively quickly, there is limited opportunity for blood in the lumen of the vessel to provide nourishment to or remove waste from the blood vessel’s walls. Further, the walls of larger vessels are too thick for nutrients to diffuse through to all of the cells. Larger arteries and veins contain small blood vessels in the tunica adventitia known as the vasa </a:t>
            </a:r>
            <a:r>
              <a:rPr lang="en-US" sz="2800" dirty="0" err="1">
                <a:latin typeface="Times New Roman" panose="02020603050405020304" pitchFamily="18" charset="0"/>
                <a:ea typeface="Calibri" panose="020F0502020204030204" pitchFamily="34" charset="0"/>
                <a:cs typeface="Times New Roman" panose="02020603050405020304" pitchFamily="18" charset="0"/>
              </a:rPr>
              <a:t>vasorum</a:t>
            </a:r>
            <a:r>
              <a:rPr lang="en-US" sz="2800" dirty="0">
                <a:latin typeface="Times New Roman" panose="02020603050405020304" pitchFamily="18" charset="0"/>
                <a:ea typeface="Calibri" panose="020F0502020204030204" pitchFamily="34" charset="0"/>
                <a:cs typeface="Times New Roman" panose="02020603050405020304" pitchFamily="18" charset="0"/>
              </a:rPr>
              <a:t> to provide them with this vital exchange.</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9910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830" y="136478"/>
            <a:ext cx="11696131" cy="6721522"/>
          </a:xfrm>
        </p:spPr>
        <p:txBody>
          <a:bodyPr>
            <a:noAutofit/>
          </a:bodyPr>
          <a:lstStyle/>
          <a:p>
            <a:pPr marL="0" marR="0" algn="ctr">
              <a:lnSpc>
                <a:spcPct val="150000"/>
              </a:lnSpc>
              <a:spcBef>
                <a:spcPts val="0"/>
              </a:spcBef>
              <a:spcAft>
                <a:spcPts val="800"/>
              </a:spcAf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Endothelial cell</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algn="just">
              <a:lnSpc>
                <a:spcPct val="150000"/>
              </a:lnSpc>
              <a:spcBef>
                <a:spcPts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It is important to remember that the entire cardiovascular system is lined by endothelial cell. This specialized simple squamous epithelial cell lines the endocardium of the heart, lines all the arteries and veins, and makes up all the capillaries wall.</a:t>
            </a:r>
          </a:p>
          <a:p>
            <a:pPr marL="0" algn="just">
              <a:lnSpc>
                <a:spcPct val="150000"/>
              </a:lnSpc>
              <a:spcBef>
                <a:spcPts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The endothelial cells rest on a basal lamina. These flattened polygonal cells are elongated in the direction of blood flow. The nucleus causes the cell to bulge into the capillary lumen. The cytoplasm contains few organelles including a small Golgi complex, mitochondria, free ribosomes &amp; a few cisternae of RER. Endothelial cells are connected to each other by tight junctions. </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000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71155" y="300445"/>
            <a:ext cx="8283842" cy="5656217"/>
          </a:xfrm>
          <a:prstGeom prst="rect">
            <a:avLst/>
          </a:prstGeom>
        </p:spPr>
      </p:pic>
    </p:spTree>
    <p:extLst>
      <p:ext uri="{BB962C8B-B14F-4D97-AF65-F5344CB8AC3E}">
        <p14:creationId xmlns:p14="http://schemas.microsoft.com/office/powerpoint/2010/main" val="1075086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34" y="627017"/>
            <a:ext cx="10515600" cy="5414345"/>
          </a:xfrm>
        </p:spPr>
        <p:txBody>
          <a:bodyPr>
            <a:noAutofit/>
          </a:bodyPr>
          <a:lstStyle/>
          <a:p>
            <a:pPr marL="0" marR="0">
              <a:lnSpc>
                <a:spcPct val="150000"/>
              </a:lnSpc>
              <a:spcBef>
                <a:spcPts val="0"/>
              </a:spcBef>
              <a:spcAft>
                <a:spcPts val="800"/>
              </a:spcAf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Functions of endothelial cells: </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a:lnSpc>
                <a:spcPct val="150000"/>
              </a:lnSpc>
              <a:spcBef>
                <a:spcPts val="0"/>
              </a:spcBef>
            </a:pPr>
            <a:r>
              <a:rPr lang="en-US" sz="3200" dirty="0">
                <a:latin typeface="Times New Roman" panose="02020603050405020304" pitchFamily="18" charset="0"/>
                <a:ea typeface="Calibri" panose="020F0502020204030204" pitchFamily="34" charset="0"/>
                <a:cs typeface="Times New Roman" panose="02020603050405020304" pitchFamily="18" charset="0"/>
              </a:rPr>
              <a:t> 1- They provide smooth surface. </a:t>
            </a:r>
          </a:p>
          <a:p>
            <a:pPr marL="0">
              <a:lnSpc>
                <a:spcPct val="150000"/>
              </a:lnSpc>
              <a:spcBef>
                <a:spcPts val="0"/>
              </a:spcBef>
            </a:pPr>
            <a:r>
              <a:rPr lang="en-US" sz="3200" dirty="0">
                <a:latin typeface="Times New Roman" panose="02020603050405020304" pitchFamily="18" charset="0"/>
                <a:ea typeface="Calibri" panose="020F0502020204030204" pitchFamily="34" charset="0"/>
                <a:cs typeface="Times New Roman" panose="02020603050405020304" pitchFamily="18" charset="0"/>
              </a:rPr>
              <a:t> 2- They secrete collagen, </a:t>
            </a:r>
            <a:r>
              <a:rPr lang="en-US" sz="3200" dirty="0" err="1">
                <a:latin typeface="Times New Roman" panose="02020603050405020304" pitchFamily="18" charset="0"/>
                <a:ea typeface="Calibri" panose="020F0502020204030204" pitchFamily="34" charset="0"/>
                <a:cs typeface="Times New Roman" panose="02020603050405020304" pitchFamily="18" charset="0"/>
              </a:rPr>
              <a:t>lamin</a:t>
            </a:r>
            <a:r>
              <a:rPr lang="en-US" sz="3200" dirty="0">
                <a:latin typeface="Times New Roman" panose="02020603050405020304" pitchFamily="18" charset="0"/>
                <a:ea typeface="Calibri" panose="020F0502020204030204" pitchFamily="34" charset="0"/>
                <a:cs typeface="Times New Roman" panose="02020603050405020304" pitchFamily="18" charset="0"/>
              </a:rPr>
              <a:t>, endothelin and nitric oxide. </a:t>
            </a:r>
          </a:p>
          <a:p>
            <a:pPr marL="0">
              <a:lnSpc>
                <a:spcPct val="150000"/>
              </a:lnSpc>
              <a:spcBef>
                <a:spcPts val="0"/>
              </a:spcBef>
            </a:pPr>
            <a:r>
              <a:rPr lang="en-US" sz="3200" dirty="0">
                <a:latin typeface="Times New Roman" panose="02020603050405020304" pitchFamily="18" charset="0"/>
                <a:ea typeface="Calibri" panose="020F0502020204030204" pitchFamily="34" charset="0"/>
                <a:cs typeface="Times New Roman" panose="02020603050405020304" pitchFamily="18" charset="0"/>
              </a:rPr>
              <a:t>3- They have membrane bound enzymes for bradykinin, serotonin, prostaglandins, thrombin, norepinephrine and lipoprotein lipase.</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1853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1371601"/>
            <a:ext cx="9067557" cy="4669762"/>
          </a:xfrm>
        </p:spPr>
        <p:txBody>
          <a:bodyPr>
            <a:normAutofit/>
          </a:bodyPr>
          <a:lstStyle/>
          <a:p>
            <a:pPr marL="0" marR="0" indent="0" algn="ctr">
              <a:lnSpc>
                <a:spcPct val="107000"/>
              </a:lnSpc>
              <a:spcBef>
                <a:spcPts val="0"/>
              </a:spcBef>
              <a:spcAft>
                <a:spcPts val="800"/>
              </a:spcAft>
              <a:buNone/>
              <a:tabLst>
                <a:tab pos="2146300" algn="l"/>
              </a:tabLst>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Lecture 25</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tabLst>
                <a:tab pos="2146300" algn="l"/>
              </a:tabLst>
            </a:pPr>
            <a:r>
              <a:rPr lang="en-US"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(Blood capillaries, specialized arteries)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tabLst>
                <a:tab pos="2146300" algn="l"/>
              </a:tabLst>
            </a:pPr>
            <a:r>
              <a:rPr lang="en-US"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and</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tabLst>
                <a:tab pos="2146300" algn="l"/>
              </a:tabLst>
            </a:pPr>
            <a:r>
              <a:rPr lang="en-US"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(Sensory structures of blood vessels)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tabLst>
                <a:tab pos="2146300" algn="l"/>
              </a:tabLst>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621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666207"/>
            <a:ext cx="9942769" cy="5375156"/>
          </a:xfrm>
        </p:spPr>
        <p:txBody>
          <a:bodyPr>
            <a:noAutofit/>
          </a:bodyPr>
          <a:lstStyle/>
          <a:p>
            <a:pPr marL="0" marR="0">
              <a:lnSpc>
                <a:spcPct val="107000"/>
              </a:lnSpc>
              <a:spcBef>
                <a:spcPts val="0"/>
              </a:spcBef>
              <a:spcAft>
                <a:spcPts val="800"/>
              </a:spcAft>
              <a:tabLst>
                <a:tab pos="1308100" algn="l"/>
              </a:tabLst>
            </a:pPr>
            <a:r>
              <a:rPr lang="en-US" sz="3200" b="1" u="sng"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Learning objectives (Lecture 25 / 3rd week)</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After the lecture, students should be able to:</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 </a:t>
            </a: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Describe the general structure of blood capillaries.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 Mention different types of blood capillaries .</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 Recognize the different types of special arteries..</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 Discuss the normal sensory structure of blood vessels (carotid </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tabLst>
                <a:tab pos="1308100" algn="l"/>
              </a:tabLst>
            </a:pPr>
            <a:r>
              <a:rPr 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sinuses &amp; carotid and aortic bodies).</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0170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11988800" cy="6470469"/>
          </a:xfrm>
        </p:spPr>
        <p:txBody>
          <a:bodyPr>
            <a:noAutofit/>
          </a:bodyPr>
          <a:lstStyle/>
          <a:p>
            <a:pPr marL="0" marR="0" algn="ctr">
              <a:lnSpc>
                <a:spcPct val="107000"/>
              </a:lnSpc>
              <a:spcBef>
                <a:spcPts val="0"/>
              </a:spcBef>
              <a:spcAft>
                <a:spcPts val="800"/>
              </a:spcAft>
              <a:tabLst>
                <a:tab pos="2393950" algn="l"/>
              </a:tabLs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Blood Capillaries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23939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Capillaries are the smallest blood vessels which form branching and anastomosing network between arterioles and </a:t>
            </a:r>
            <a:r>
              <a:rPr lang="en-US" sz="2800" dirty="0" err="1">
                <a:latin typeface="Times New Roman" panose="02020603050405020304" pitchFamily="18" charset="0"/>
                <a:ea typeface="Calibri" panose="020F0502020204030204" pitchFamily="34" charset="0"/>
                <a:cs typeface="Times New Roman" panose="02020603050405020304" pitchFamily="18" charset="0"/>
              </a:rPr>
              <a:t>venules</a:t>
            </a:r>
            <a:r>
              <a:rPr lang="en-US" sz="2800" dirty="0">
                <a:latin typeface="Times New Roman" panose="02020603050405020304" pitchFamily="18" charset="0"/>
                <a:ea typeface="Calibri" panose="020F0502020204030204" pitchFamily="34" charset="0"/>
                <a:cs typeface="Times New Roman" panose="02020603050405020304" pitchFamily="18" charset="0"/>
              </a:rPr>
              <a:t>. Their diameter is 8-10 um slightly larger than the diameter of RBCs.</a:t>
            </a:r>
          </a:p>
          <a:p>
            <a:pPr marL="0" marR="0">
              <a:lnSpc>
                <a:spcPct val="107000"/>
              </a:lnSpc>
              <a:spcBef>
                <a:spcPts val="0"/>
              </a:spcBef>
              <a:spcAft>
                <a:spcPts val="800"/>
              </a:spcAf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General Structure of blood Capillaries: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50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 blood capillaries are lined by a single layer of flat endothelial cells rolled up in the form of a tube  rest on basal lamina. The basal lamina split to enclose </a:t>
            </a:r>
            <a:r>
              <a:rPr lang="en-US" sz="2800" dirty="0" err="1">
                <a:latin typeface="Times New Roman" panose="02020603050405020304" pitchFamily="18" charset="0"/>
                <a:ea typeface="Calibri" panose="020F0502020204030204" pitchFamily="34" charset="0"/>
                <a:cs typeface="Times New Roman" panose="02020603050405020304" pitchFamily="18" charset="0"/>
              </a:rPr>
              <a:t>pericytes</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latin typeface="Times New Roman" panose="02020603050405020304" pitchFamily="18" charset="0"/>
                <a:ea typeface="Calibri" panose="020F0502020204030204" pitchFamily="34" charset="0"/>
                <a:cs typeface="Times New Roman" panose="02020603050405020304" pitchFamily="18" charset="0"/>
              </a:rPr>
              <a:t>Pericytes</a:t>
            </a:r>
            <a:r>
              <a:rPr lang="en-US" sz="2800" dirty="0">
                <a:latin typeface="Times New Roman" panose="02020603050405020304" pitchFamily="18" charset="0"/>
                <a:ea typeface="Calibri" panose="020F0502020204030204" pitchFamily="34" charset="0"/>
                <a:cs typeface="Times New Roman" panose="02020603050405020304" pitchFamily="18" charset="0"/>
              </a:rPr>
              <a:t> are flat branched contractile cells.</a:t>
            </a:r>
          </a:p>
          <a:p>
            <a:pPr lvl="0" algn="just">
              <a:lnSpc>
                <a:spcPct val="150000"/>
              </a:lnSpc>
              <a:spcBef>
                <a:spcPts val="0"/>
              </a:spcBef>
              <a:spcAft>
                <a:spcPts val="800"/>
              </a:spcAft>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Large number of pinocytotic vesicles are present on both surfaces of endothelial cells. These vesicles are responsible for transport of macromolecules in both directions across the endothelial cytoplasm. This process is called </a:t>
            </a:r>
            <a:r>
              <a:rPr lang="en-US" sz="2800" dirty="0" err="1">
                <a:latin typeface="Times New Roman" panose="02020603050405020304" pitchFamily="18" charset="0"/>
                <a:ea typeface="Calibri" panose="020F0502020204030204" pitchFamily="34" charset="0"/>
                <a:cs typeface="Times New Roman" panose="02020603050405020304" pitchFamily="18" charset="0"/>
              </a:rPr>
              <a:t>transcytosis</a:t>
            </a:r>
            <a:r>
              <a:rPr lang="en-US" sz="2800" dirty="0">
                <a:latin typeface="Times New Roman" panose="02020603050405020304" pitchFamily="18" charset="0"/>
                <a:ea typeface="Calibri" panose="020F0502020204030204" pitchFamily="34"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4902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613954"/>
            <a:ext cx="9799077" cy="5427408"/>
          </a:xfrm>
        </p:spPr>
        <p:txBody>
          <a:bodyPr>
            <a:noAutofit/>
          </a:bodyPr>
          <a:lstStyle/>
          <a:p>
            <a:pPr lvl="0" algn="just">
              <a:lnSpc>
                <a:spcPct val="150000"/>
              </a:lnSpc>
              <a:spcBef>
                <a:spcPts val="0"/>
              </a:spcBef>
              <a:spcAft>
                <a:spcPts val="8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At the cellular junctions, the endothelial cells tend to overlap forming marginal folds that project into the lumen. These folds may retard the flow of blood near the capillary wall. The endothelial cells are connected by tight junctions to prevent the leakage of proteins or blood cells out of circulation.</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7651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marR="0" algn="ctr">
              <a:lnSpc>
                <a:spcPct val="107000"/>
              </a:lnSpc>
              <a:spcBef>
                <a:spcPts val="0"/>
              </a:spcBef>
              <a:spcAft>
                <a:spcPts val="800"/>
              </a:spcAft>
            </a:pPr>
            <a:r>
              <a:rPr lang="en-US"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Types of blood Capillaries</a:t>
            </a:r>
            <a:br>
              <a:rPr lang="en-US" sz="2000" dirty="0">
                <a:latin typeface="Calibri" panose="020F0502020204030204" pitchFamily="34" charset="0"/>
                <a:ea typeface="Calibri" panose="020F0502020204030204" pitchFamily="34" charset="0"/>
                <a:cs typeface="Arial" panose="020B0604020202020204" pitchFamily="34" charset="0"/>
              </a:rPr>
            </a:br>
            <a:endParaRPr lang="en-US" dirty="0"/>
          </a:p>
        </p:txBody>
      </p:sp>
      <p:pic>
        <p:nvPicPr>
          <p:cNvPr id="4" name="Content Placeholder 3"/>
          <p:cNvPicPr>
            <a:picLocks noGrp="1" noChangeAspect="1"/>
          </p:cNvPicPr>
          <p:nvPr>
            <p:ph idx="1"/>
          </p:nvPr>
        </p:nvPicPr>
        <p:blipFill>
          <a:blip r:embed="rId2"/>
          <a:stretch>
            <a:fillRect/>
          </a:stretch>
        </p:blipFill>
        <p:spPr>
          <a:xfrm>
            <a:off x="677334" y="1502229"/>
            <a:ext cx="9284652" cy="5094514"/>
          </a:xfrm>
          <a:prstGeom prst="rect">
            <a:avLst/>
          </a:prstGeom>
        </p:spPr>
      </p:pic>
    </p:spTree>
    <p:extLst>
      <p:ext uri="{BB962C8B-B14F-4D97-AF65-F5344CB8AC3E}">
        <p14:creationId xmlns:p14="http://schemas.microsoft.com/office/powerpoint/2010/main" val="1084441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83" y="261257"/>
            <a:ext cx="11260183" cy="6792686"/>
          </a:xfrm>
        </p:spPr>
        <p:txBody>
          <a:bodyPr>
            <a:noAutofit/>
          </a:bodyPr>
          <a:lstStyle/>
          <a:p>
            <a:pPr marL="0" marR="0" indent="457200">
              <a:lnSpc>
                <a:spcPct val="107000"/>
              </a:lnSpc>
              <a:spcBef>
                <a:spcPts val="0"/>
              </a:spcBef>
              <a:spcAft>
                <a:spcPts val="800"/>
              </a:spcAft>
            </a:pP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Structurally by E.M. there are three types of capillaries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457200">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1- Continuous capillaries</a:t>
            </a:r>
          </a:p>
          <a:p>
            <a:pPr marL="0" marR="0" indent="457200">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2- Fenestrated capillaries</a:t>
            </a:r>
          </a:p>
          <a:p>
            <a:pPr marL="0" marR="0" indent="457200">
              <a:lnSpc>
                <a:spcPct val="107000"/>
              </a:lnSpc>
              <a:spcBef>
                <a:spcPts val="0"/>
              </a:spcBef>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3- Sinusoidal capillaries(blood sinusoids)</a:t>
            </a:r>
          </a:p>
          <a:p>
            <a:pPr lvl="0" algn="just">
              <a:lnSpc>
                <a:spcPct val="150000"/>
              </a:lnSpc>
              <a:spcBef>
                <a:spcPts val="0"/>
              </a:spcBef>
              <a:buClr>
                <a:srgbClr val="FF0000"/>
              </a:buClr>
              <a:buFont typeface="+mj-lt"/>
              <a:buAutoNum type="arabicPeriod"/>
            </a:pP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Continuous capillaries</a:t>
            </a:r>
            <a:r>
              <a:rPr lang="en-US"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 </a:t>
            </a:r>
            <a:r>
              <a:rPr lang="en-US" sz="2400" dirty="0">
                <a:latin typeface="Times New Roman" panose="02020603050405020304" pitchFamily="18" charset="0"/>
                <a:ea typeface="Calibri" panose="020F0502020204030204" pitchFamily="34" charset="0"/>
                <a:cs typeface="Times New Roman" panose="02020603050405020304" pitchFamily="18" charset="0"/>
              </a:rPr>
              <a:t>are the most common type, and are found in muscle, the central nervous system, and the lungs. They are characterized by uninterrupted endothelial and continuous basal lamina. Cells are tightly sealed and permeable only to fluid and the smallest of molecules, such as ions. </a:t>
            </a:r>
          </a:p>
          <a:p>
            <a:pPr lvl="0" algn="just">
              <a:lnSpc>
                <a:spcPct val="150000"/>
              </a:lnSpc>
              <a:spcBef>
                <a:spcPts val="0"/>
              </a:spcBef>
              <a:buFont typeface="Symbol" panose="05050102010706020507" pitchFamily="18" charset="2"/>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In the brain, the blood capillaries are modified continuous capillaries that form the blood brain barrier, with very low permeability. Few or no pinocytotic vesicles are encountered in these continuous capillaries.  • Occluding junction between endothelial cells represent the main structural component of the barrier.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454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0527" y="259005"/>
            <a:ext cx="8843554" cy="6089543"/>
          </a:xfrm>
          <a:prstGeom prst="rect">
            <a:avLst/>
          </a:prstGeom>
        </p:spPr>
      </p:pic>
    </p:spTree>
    <p:extLst>
      <p:ext uri="{BB962C8B-B14F-4D97-AF65-F5344CB8AC3E}">
        <p14:creationId xmlns:p14="http://schemas.microsoft.com/office/powerpoint/2010/main" val="3517637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849087"/>
            <a:ext cx="9786015" cy="5192276"/>
          </a:xfrm>
        </p:spPr>
        <p:txBody>
          <a:bodyPr>
            <a:noAutofit/>
          </a:bodyPr>
          <a:lstStyle/>
          <a:p>
            <a:pPr lvl="0" algn="just">
              <a:lnSpc>
                <a:spcPct val="150000"/>
              </a:lnSpc>
              <a:spcBef>
                <a:spcPts val="0"/>
              </a:spcBef>
              <a:spcAft>
                <a:spcPts val="800"/>
              </a:spcAft>
              <a:buClr>
                <a:srgbClr val="FF0000"/>
              </a:buClr>
              <a:buFont typeface="+mj-lt"/>
              <a:buAutoNum type="arabicPeriod"/>
            </a:pPr>
            <a:r>
              <a:rPr lang="en-US" sz="32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Fenestrated capillaries</a:t>
            </a:r>
            <a:r>
              <a:rPr lang="en-US"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sz="3200" dirty="0">
                <a:latin typeface="Times New Roman" panose="02020603050405020304" pitchFamily="18" charset="0"/>
                <a:ea typeface="Calibri" panose="020F0502020204030204" pitchFamily="34" charset="0"/>
                <a:cs typeface="Times New Roman" panose="02020603050405020304" pitchFamily="18" charset="0"/>
              </a:rPr>
              <a:t> The endothelial cells have pores (60 -80 nm in diameter), and usually covered by a pore diaphragm. The basal lamina is continuous. They are present in endocrine glands, intestines, and the kidney glomeruli, where their structure allows for the transport of larger molecules such as hormones or fat particles.  </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8565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05394" y="809897"/>
            <a:ext cx="9103575" cy="5538652"/>
          </a:xfrm>
          <a:prstGeom prst="rect">
            <a:avLst/>
          </a:prstGeom>
        </p:spPr>
      </p:pic>
    </p:spTree>
    <p:extLst>
      <p:ext uri="{BB962C8B-B14F-4D97-AF65-F5344CB8AC3E}">
        <p14:creationId xmlns:p14="http://schemas.microsoft.com/office/powerpoint/2010/main" val="31728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431073"/>
            <a:ext cx="10685417" cy="6426927"/>
          </a:xfrm>
        </p:spPr>
        <p:txBody>
          <a:bodyPr>
            <a:noAutofit/>
          </a:bodyPr>
          <a:lstStyle/>
          <a:p>
            <a:pPr lvl="0" algn="just">
              <a:lnSpc>
                <a:spcPct val="150000"/>
              </a:lnSpc>
              <a:spcBef>
                <a:spcPts val="0"/>
              </a:spcBef>
              <a:buClr>
                <a:srgbClr val="FF0000"/>
              </a:buClr>
              <a:buFont typeface="+mj-lt"/>
              <a:buAutoNum type="arabicPeriod"/>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Sinusoidal capillaries</a:t>
            </a:r>
            <a:r>
              <a:rPr lang="en-US" sz="2800" dirty="0">
                <a:latin typeface="Times New Roman" panose="02020603050405020304" pitchFamily="18" charset="0"/>
                <a:ea typeface="Calibri" panose="020F0502020204030204" pitchFamily="34" charset="0"/>
                <a:cs typeface="Times New Roman" panose="02020603050405020304" pitchFamily="18" charset="0"/>
              </a:rPr>
              <a:t>, or sinusoids, can be found in the liver, spleen, and bone marrow. The endothelial wall and the basal lamina are discontinuous. The fenestrae in the endothelial cells are without diaphragm. Macrophages may be located either in or along the outside of the endothelial wall. They have large gaps between cells that allow larger particles, and even blood cells, to enter or exit the blood. </a:t>
            </a:r>
          </a:p>
          <a:p>
            <a:pPr marL="457200" marR="0" algn="just">
              <a:lnSpc>
                <a:spcPct val="150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Capillaries are exchange vessels, as the interchange of nutrients/waste between blood and organs takes place across their walls.</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4291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22960" y="404949"/>
            <a:ext cx="9106132" cy="5603965"/>
          </a:xfrm>
          <a:prstGeom prst="rect">
            <a:avLst/>
          </a:prstGeom>
        </p:spPr>
      </p:pic>
    </p:spTree>
    <p:extLst>
      <p:ext uri="{BB962C8B-B14F-4D97-AF65-F5344CB8AC3E}">
        <p14:creationId xmlns:p14="http://schemas.microsoft.com/office/powerpoint/2010/main" val="3677536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3692"/>
            <a:ext cx="12096206" cy="7367452"/>
          </a:xfrm>
        </p:spPr>
        <p:txBody>
          <a:bodyPr>
            <a:noAutofit/>
          </a:bodyPr>
          <a:lstStyle/>
          <a:p>
            <a:pPr marL="0" marR="0" indent="0" algn="ctr">
              <a:lnSpc>
                <a:spcPct val="107000"/>
              </a:lnSpc>
              <a:spcBef>
                <a:spcPts val="0"/>
              </a:spcBef>
              <a:spcAft>
                <a:spcPts val="800"/>
              </a:spcAft>
              <a:buNone/>
              <a:tabLst>
                <a:tab pos="2292350" algn="l"/>
              </a:tabLs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Specialized Medium Sized Arteries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914400" lvl="2" indent="0" algn="just">
              <a:lnSpc>
                <a:spcPct val="107000"/>
              </a:lnSpc>
              <a:spcBef>
                <a:spcPts val="0"/>
              </a:spcBef>
              <a:buNone/>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1.Cerebral (basilar) Arteries: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They have thin wall because they are protected from external forces by skull. </a:t>
            </a:r>
          </a:p>
          <a:p>
            <a:pPr lvl="0" algn="just">
              <a:lnSpc>
                <a:spcPct val="107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 tunica media is thin and devoid of elastic fibers.</a:t>
            </a:r>
          </a:p>
          <a:p>
            <a:pPr lvl="0" algn="just">
              <a:lnSpc>
                <a:spcPct val="107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 internal elastic lamina is well developed.</a:t>
            </a:r>
          </a:p>
          <a:p>
            <a:pPr marL="914400" lvl="2" indent="0" algn="just">
              <a:lnSpc>
                <a:spcPct val="107000"/>
              </a:lnSpc>
              <a:spcBef>
                <a:spcPts val="0"/>
              </a:spcBef>
              <a:buNone/>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2.Pulmonary Arteries</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Bef>
                <a:spcPts val="0"/>
              </a:spcBef>
              <a:buFont typeface="Symbol" panose="05050102010706020507" pitchFamily="18" charset="2"/>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These vessels are thin walled, because they are exposed to low pulmonary blood  pressure. They contain less muscular and elastic tissue.  </a:t>
            </a:r>
          </a:p>
          <a:p>
            <a:pPr marL="914400" lvl="2" indent="0" algn="just">
              <a:lnSpc>
                <a:spcPct val="107000"/>
              </a:lnSpc>
              <a:spcBef>
                <a:spcPts val="0"/>
              </a:spcBef>
              <a:spcAft>
                <a:spcPts val="800"/>
              </a:spcAft>
              <a:buNone/>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3.Coronary Arteries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 They have a very thick wall because they are subjected to high pressure.  The intima is thickened. The sub endothelium contains longitudinal smooth muscle fibers, elastic fibers, amorphous intercellular substance, fat droplets and monocytes. They have thicker media to withstand internal pressure and external forces. </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6113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91887"/>
            <a:ext cx="9903580" cy="5649476"/>
          </a:xfrm>
        </p:spPr>
        <p:txBody>
          <a:bodyPr>
            <a:normAutofit/>
          </a:bodyPr>
          <a:lstStyle/>
          <a:p>
            <a:pPr marL="914400" lvl="2" indent="0">
              <a:lnSpc>
                <a:spcPct val="107000"/>
              </a:lnSpc>
              <a:spcBef>
                <a:spcPts val="0"/>
              </a:spcBef>
              <a:buNone/>
            </a:pPr>
            <a:r>
              <a:rPr lang="en-US" sz="3200" b="1" u="sng" dirty="0">
                <a:solidFill>
                  <a:srgbClr val="FF0000"/>
                </a:solidFill>
                <a:latin typeface="Times New Roman" panose="02020603050405020304" pitchFamily="18" charset="0"/>
                <a:ea typeface="Calibri" panose="020F0502020204030204" pitchFamily="34" charset="0"/>
                <a:cs typeface="Arial" panose="020B0604020202020204" pitchFamily="34" charset="0"/>
              </a:rPr>
              <a:t>4. Umbilical Arteries:</a:t>
            </a:r>
            <a:endParaRPr lang="en-US" sz="3200" dirty="0">
              <a:latin typeface="Calibri" panose="020F0502020204030204" pitchFamily="34" charset="0"/>
              <a:ea typeface="Calibri" panose="020F0502020204030204" pitchFamily="34" charset="0"/>
              <a:cs typeface="Arial" panose="020B0604020202020204" pitchFamily="34" charset="0"/>
            </a:endParaRPr>
          </a:p>
          <a:p>
            <a:pPr lvl="0">
              <a:lnSpc>
                <a:spcPct val="107000"/>
              </a:lnSpc>
              <a:spcBef>
                <a:spcPts val="0"/>
              </a:spcBef>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 The tunica intima lacks internal elastic lamina.</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Bef>
                <a:spcPts val="0"/>
              </a:spcBef>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The tunica media is chiefly muscular.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Bef>
                <a:spcPts val="0"/>
              </a:spcBef>
              <a:spcAft>
                <a:spcPts val="8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The muscle layer of the media is divided into 2 layers: an inner longitudinal and  outer circular layer. This arrangement will enable the umbilical artery to  undergo complete occlusion after birth.</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706595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691" y="182881"/>
            <a:ext cx="11560629" cy="6531428"/>
          </a:xfrm>
        </p:spPr>
        <p:txBody>
          <a:bodyPr>
            <a:noAutofit/>
          </a:bodyPr>
          <a:lstStyle/>
          <a:p>
            <a:pPr marL="0" marR="0">
              <a:lnSpc>
                <a:spcPct val="107000"/>
              </a:lnSpc>
              <a:spcBef>
                <a:spcPts val="0"/>
              </a:spcBef>
              <a:spcAft>
                <a:spcPts val="800"/>
              </a:spcAft>
              <a:tabLst>
                <a:tab pos="1771650" algn="l"/>
              </a:tabLst>
            </a:pP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Specialized Sensory Structures in Arteries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07000"/>
              </a:lnSpc>
              <a:spcBef>
                <a:spcPts val="0"/>
              </a:spcBef>
              <a:buFont typeface="Symbol" panose="05050102010706020507" pitchFamily="18" charset="2"/>
              <a:buChar char=""/>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They are located in the major arteries of the body; they include carotid sinuses, carotid and aortic bodies. </a:t>
            </a: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Function: </a:t>
            </a:r>
            <a:r>
              <a:rPr lang="en-US" sz="2400" dirty="0">
                <a:latin typeface="Times New Roman" panose="02020603050405020304" pitchFamily="18" charset="0"/>
                <a:ea typeface="Calibri" panose="020F0502020204030204" pitchFamily="34" charset="0"/>
                <a:cs typeface="Times New Roman" panose="02020603050405020304" pitchFamily="18" charset="0"/>
              </a:rPr>
              <a:t>Nerve endings in these structures monitor blood pressure and blood composition, by sending impulses to the brain for controlling heart rate, respiratory rate and blood pressure. </a:t>
            </a:r>
          </a:p>
          <a:p>
            <a:pPr marL="0" lvl="0" indent="0">
              <a:lnSpc>
                <a:spcPct val="107000"/>
              </a:lnSpc>
              <a:spcBef>
                <a:spcPts val="0"/>
              </a:spcBef>
              <a:spcAft>
                <a:spcPts val="800"/>
              </a:spcAft>
              <a:buNone/>
              <a:tabLst>
                <a:tab pos="1771650" algn="l"/>
              </a:tabLst>
            </a:pP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  Carotid sinus: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 Site: It is a dilatation of the wall of the internal carotid artery just above the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bifurcation of the common carotid artery.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 Histological structure: At the site of the carotid sinus, the adventitia of the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internal carotid artery is relatively thicker and heavily supplied with sensory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nerve ending from the glossopharyngeal nerve (IX). The media is thinner, so, it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distends during increase in blood pressure. </a:t>
            </a:r>
          </a:p>
          <a:p>
            <a:pPr marL="0" marR="0">
              <a:lnSpc>
                <a:spcPct val="107000"/>
              </a:lnSpc>
              <a:spcBef>
                <a:spcPts val="0"/>
              </a:spcBef>
              <a:spcAft>
                <a:spcPts val="800"/>
              </a:spcAft>
              <a:tabLst>
                <a:tab pos="177165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Function:</a:t>
            </a:r>
            <a:r>
              <a:rPr lang="en-US" sz="2400" dirty="0">
                <a:latin typeface="Times New Roman" panose="02020603050405020304" pitchFamily="18" charset="0"/>
                <a:ea typeface="Calibri" panose="020F0502020204030204" pitchFamily="34" charset="0"/>
                <a:cs typeface="Times New Roman" panose="02020603050405020304" pitchFamily="18" charset="0"/>
              </a:rPr>
              <a:t> It is a baroreceptor when stimulated by an increase of arterial blood pressure: it sends inhibitory impulses to respiratory and cardiovascular centers.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772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97" y="352697"/>
            <a:ext cx="11273245" cy="6348549"/>
          </a:xfrm>
        </p:spPr>
        <p:txBody>
          <a:bodyPr>
            <a:noAutofit/>
          </a:bodyPr>
          <a:lstStyle/>
          <a:p>
            <a:pPr marL="0" lvl="0" indent="0">
              <a:lnSpc>
                <a:spcPct val="107000"/>
              </a:lnSpc>
              <a:spcBef>
                <a:spcPts val="0"/>
              </a:spcBef>
              <a:spcAft>
                <a:spcPts val="800"/>
              </a:spcAft>
              <a:buNone/>
              <a:tabLst>
                <a:tab pos="1771650" algn="l"/>
              </a:tabLs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2- Carotid Body: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❖Site: It is located at the bifurcation of the common carotid artery. </a:t>
            </a:r>
          </a:p>
          <a:p>
            <a:pPr marL="0" marR="0">
              <a:lnSpc>
                <a:spcPct val="107000"/>
              </a:lnSpc>
              <a:spcBef>
                <a:spcPts val="0"/>
              </a:spcBef>
              <a:spcAft>
                <a:spcPts val="800"/>
              </a:spcAft>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 Histological structure: It is composed of multiple clusters of pale- staining </a:t>
            </a:r>
          </a:p>
          <a:p>
            <a:pPr marL="0" marR="0">
              <a:lnSpc>
                <a:spcPct val="107000"/>
              </a:lnSpc>
              <a:spcBef>
                <a:spcPts val="0"/>
              </a:spcBef>
              <a:spcAft>
                <a:spcPts val="800"/>
              </a:spcAft>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cells embedded in C.T.  Glomus cells :( chemoreceptor cells) and  Sheath cells: (supporting cells) </a:t>
            </a:r>
          </a:p>
          <a:p>
            <a:pPr lvl="0">
              <a:lnSpc>
                <a:spcPct val="107000"/>
              </a:lnSpc>
              <a:spcBef>
                <a:spcPts val="0"/>
              </a:spcBef>
              <a:spcAft>
                <a:spcPts val="800"/>
              </a:spcAft>
              <a:buFont typeface="Symbol" panose="05050102010706020507" pitchFamily="18" charset="2"/>
              <a:buChar char=""/>
              <a:tabLst>
                <a:tab pos="1771650" algn="l"/>
              </a:tabLs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Function:</a:t>
            </a:r>
            <a:r>
              <a:rPr lang="en-US" sz="2800" dirty="0">
                <a:latin typeface="Times New Roman" panose="02020603050405020304" pitchFamily="18" charset="0"/>
                <a:ea typeface="Calibri" panose="020F0502020204030204" pitchFamily="34" charset="0"/>
                <a:cs typeface="Times New Roman" panose="02020603050405020304" pitchFamily="18" charset="0"/>
              </a:rPr>
              <a:t> It has specialized chemoreceptor nerve endings responsible for </a:t>
            </a:r>
          </a:p>
          <a:p>
            <a:pPr marL="0" marR="0">
              <a:lnSpc>
                <a:spcPct val="107000"/>
              </a:lnSpc>
              <a:spcBef>
                <a:spcPts val="0"/>
              </a:spcBef>
              <a:spcAft>
                <a:spcPts val="800"/>
              </a:spcAft>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monitoring changes in O2 &amp;CO2.</a:t>
            </a:r>
          </a:p>
          <a:p>
            <a:pPr marL="0" lvl="0" indent="0">
              <a:lnSpc>
                <a:spcPct val="107000"/>
              </a:lnSpc>
              <a:spcBef>
                <a:spcPts val="0"/>
              </a:spcBef>
              <a:buNone/>
              <a:tabLst>
                <a:tab pos="1771650" algn="l"/>
              </a:tabLst>
            </a:pPr>
            <a:r>
              <a:rPr lang="en-US" sz="2800" b="1" u="sng"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3- Aortic Body: </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Bef>
                <a:spcPts val="0"/>
              </a:spcBef>
              <a:buFont typeface="Symbol" panose="05050102010706020507" pitchFamily="18" charset="2"/>
              <a:buChar char=""/>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Site: they are located on the aortic arch between the common carotids and the subclavian arteries. </a:t>
            </a:r>
          </a:p>
          <a:p>
            <a:pPr lvl="0">
              <a:lnSpc>
                <a:spcPct val="107000"/>
              </a:lnSpc>
              <a:spcBef>
                <a:spcPts val="0"/>
              </a:spcBef>
              <a:spcAft>
                <a:spcPts val="800"/>
              </a:spcAft>
              <a:buFont typeface="Symbol" panose="05050102010706020507" pitchFamily="18" charset="2"/>
              <a:buChar char=""/>
              <a:tabLst>
                <a:tab pos="1771650" algn="l"/>
              </a:tabLst>
            </a:pPr>
            <a:r>
              <a:rPr lang="en-US" sz="2800" dirty="0">
                <a:latin typeface="Times New Roman" panose="02020603050405020304" pitchFamily="18" charset="0"/>
                <a:ea typeface="Calibri" panose="020F0502020204030204" pitchFamily="34" charset="0"/>
                <a:cs typeface="Times New Roman" panose="02020603050405020304" pitchFamily="18" charset="0"/>
              </a:rPr>
              <a:t>Structure &amp; function are similar to those of the carotid body.</a:t>
            </a:r>
          </a:p>
          <a:p>
            <a:pPr marL="0" marR="0">
              <a:lnSpc>
                <a:spcPct val="107000"/>
              </a:lnSpc>
              <a:spcBef>
                <a:spcPts val="0"/>
              </a:spcBef>
              <a:spcAft>
                <a:spcPts val="800"/>
              </a:spcAft>
              <a:tabLst>
                <a:tab pos="1771650" algn="l"/>
              </a:tabLst>
            </a:pP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37997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122</TotalTime>
  <Words>2245</Words>
  <Application>Microsoft Office PowerPoint</Application>
  <PresentationFormat>Widescreen</PresentationFormat>
  <Paragraphs>130</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Symbol</vt:lpstr>
      <vt:lpstr>Times New Roman</vt:lpstr>
      <vt:lpstr>Trebuchet MS</vt:lpstr>
      <vt:lpstr>Wingdings 3</vt:lpstr>
      <vt:lpstr>Facet</vt:lpstr>
      <vt:lpstr>HISTOLOGY OF CARDIOVASCULAR SYSTEM L24- Blood vessels</vt:lpstr>
      <vt:lpstr>PowerPoint Presentation</vt:lpstr>
      <vt:lpstr>Histology of the blood vessels General structure of blood vessels: </vt:lpstr>
      <vt:lpstr>PowerPoint Presentation</vt:lpstr>
      <vt:lpstr>1-Tunica intima </vt:lpstr>
      <vt:lpstr>PowerPoint Presentation</vt:lpstr>
      <vt:lpstr>PowerPoint Presentation</vt:lpstr>
      <vt:lpstr>2- Tunica media </vt:lpstr>
      <vt:lpstr>3- Tunica adventitia  </vt:lpstr>
      <vt:lpstr>Types of blood vessels: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blood Capillaries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HISTOLOGY OF CARDIOVASCULAR SYSTEM L24- Blood vessels</dc:title>
  <dc:creator>DR.Madiha</dc:creator>
  <cp:lastModifiedBy>Dr Ola AbdElTawab Hussein</cp:lastModifiedBy>
  <cp:revision>76</cp:revision>
  <dcterms:created xsi:type="dcterms:W3CDTF">2021-10-29T16:02:04Z</dcterms:created>
  <dcterms:modified xsi:type="dcterms:W3CDTF">2023-10-09T08:11:10Z</dcterms:modified>
</cp:coreProperties>
</file>