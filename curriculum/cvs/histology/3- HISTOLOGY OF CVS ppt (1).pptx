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10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182C7E9-F318-447C-BFF4-983903A9FDDA}"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7BAC66-6CC2-436C-89F8-09AC3AA45395}" type="slidenum">
              <a:rPr lang="en-US" smtClean="0"/>
              <a:t>‹#›</a:t>
            </a:fld>
            <a:endParaRPr lang="en-US"/>
          </a:p>
        </p:txBody>
      </p:sp>
    </p:spTree>
    <p:extLst>
      <p:ext uri="{BB962C8B-B14F-4D97-AF65-F5344CB8AC3E}">
        <p14:creationId xmlns:p14="http://schemas.microsoft.com/office/powerpoint/2010/main" val="466023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82C7E9-F318-447C-BFF4-983903A9FDDA}"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7BAC66-6CC2-436C-89F8-09AC3AA45395}" type="slidenum">
              <a:rPr lang="en-US" smtClean="0"/>
              <a:t>‹#›</a:t>
            </a:fld>
            <a:endParaRPr lang="en-US"/>
          </a:p>
        </p:txBody>
      </p:sp>
    </p:spTree>
    <p:extLst>
      <p:ext uri="{BB962C8B-B14F-4D97-AF65-F5344CB8AC3E}">
        <p14:creationId xmlns:p14="http://schemas.microsoft.com/office/powerpoint/2010/main" val="2095286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182C7E9-F318-447C-BFF4-983903A9FDDA}"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7BAC66-6CC2-436C-89F8-09AC3AA45395}" type="slidenum">
              <a:rPr lang="en-US" smtClean="0"/>
              <a:t>‹#›</a:t>
            </a:fld>
            <a:endParaRPr lang="en-US"/>
          </a:p>
        </p:txBody>
      </p:sp>
    </p:spTree>
    <p:extLst>
      <p:ext uri="{BB962C8B-B14F-4D97-AF65-F5344CB8AC3E}">
        <p14:creationId xmlns:p14="http://schemas.microsoft.com/office/powerpoint/2010/main" val="1029306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82C7E9-F318-447C-BFF4-983903A9FDDA}" type="datetimeFigureOut">
              <a:rPr lang="en-US" smtClean="0"/>
              <a:t>10/9/2023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7BAC66-6CC2-436C-89F8-09AC3AA45395}" type="slidenum">
              <a:rPr lang="en-US" smtClean="0"/>
              <a:t>‹#›</a:t>
            </a:fld>
            <a:endParaRPr lang="en-US"/>
          </a:p>
        </p:txBody>
      </p:sp>
    </p:spTree>
    <p:extLst>
      <p:ext uri="{BB962C8B-B14F-4D97-AF65-F5344CB8AC3E}">
        <p14:creationId xmlns:p14="http://schemas.microsoft.com/office/powerpoint/2010/main" val="1138130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182C7E9-F318-447C-BFF4-983903A9FDDA}" type="datetimeFigureOut">
              <a:rPr lang="en-US" smtClean="0"/>
              <a:t>10/9/2023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7BAC66-6CC2-436C-89F8-09AC3AA45395}" type="slidenum">
              <a:rPr lang="en-US" smtClean="0"/>
              <a:t>‹#›</a:t>
            </a:fld>
            <a:endParaRPr lang="en-US"/>
          </a:p>
        </p:txBody>
      </p:sp>
    </p:spTree>
    <p:extLst>
      <p:ext uri="{BB962C8B-B14F-4D97-AF65-F5344CB8AC3E}">
        <p14:creationId xmlns:p14="http://schemas.microsoft.com/office/powerpoint/2010/main" val="2946786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82C7E9-F318-447C-BFF4-983903A9FDDA}" type="datetimeFigureOut">
              <a:rPr lang="en-US" smtClean="0"/>
              <a:t>10/9/2023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7BAC66-6CC2-436C-89F8-09AC3AA45395}" type="slidenum">
              <a:rPr lang="en-US" smtClean="0"/>
              <a:t>‹#›</a:t>
            </a:fld>
            <a:endParaRPr lang="en-US"/>
          </a:p>
        </p:txBody>
      </p:sp>
    </p:spTree>
    <p:extLst>
      <p:ext uri="{BB962C8B-B14F-4D97-AF65-F5344CB8AC3E}">
        <p14:creationId xmlns:p14="http://schemas.microsoft.com/office/powerpoint/2010/main" val="2961905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82C7E9-F318-447C-BFF4-983903A9FDDA}" type="datetimeFigureOut">
              <a:rPr lang="en-US" smtClean="0"/>
              <a:t>10/9/2023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87BAC66-6CC2-436C-89F8-09AC3AA45395}" type="slidenum">
              <a:rPr lang="en-US" smtClean="0"/>
              <a:t>‹#›</a:t>
            </a:fld>
            <a:endParaRPr lang="en-US"/>
          </a:p>
        </p:txBody>
      </p:sp>
    </p:spTree>
    <p:extLst>
      <p:ext uri="{BB962C8B-B14F-4D97-AF65-F5344CB8AC3E}">
        <p14:creationId xmlns:p14="http://schemas.microsoft.com/office/powerpoint/2010/main" val="1919162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182C7E9-F318-447C-BFF4-983903A9FDDA}" type="datetimeFigureOut">
              <a:rPr lang="en-US" smtClean="0"/>
              <a:t>10/9/2023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7BAC66-6CC2-436C-89F8-09AC3AA45395}" type="slidenum">
              <a:rPr lang="en-US" smtClean="0"/>
              <a:t>‹#›</a:t>
            </a:fld>
            <a:endParaRPr lang="en-US"/>
          </a:p>
        </p:txBody>
      </p:sp>
    </p:spTree>
    <p:extLst>
      <p:ext uri="{BB962C8B-B14F-4D97-AF65-F5344CB8AC3E}">
        <p14:creationId xmlns:p14="http://schemas.microsoft.com/office/powerpoint/2010/main" val="4089481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182C7E9-F318-447C-BFF4-983903A9FDDA}" type="datetimeFigureOut">
              <a:rPr lang="en-US" smtClean="0"/>
              <a:t>10/9/2023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7BAC66-6CC2-436C-89F8-09AC3AA45395}" type="slidenum">
              <a:rPr lang="en-US" smtClean="0"/>
              <a:t>‹#›</a:t>
            </a:fld>
            <a:endParaRPr lang="en-US"/>
          </a:p>
        </p:txBody>
      </p:sp>
    </p:spTree>
    <p:extLst>
      <p:ext uri="{BB962C8B-B14F-4D97-AF65-F5344CB8AC3E}">
        <p14:creationId xmlns:p14="http://schemas.microsoft.com/office/powerpoint/2010/main" val="3776868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82C7E9-F318-447C-BFF4-983903A9FDDA}"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7BAC66-6CC2-436C-89F8-09AC3AA45395}" type="slidenum">
              <a:rPr lang="en-US" smtClean="0"/>
              <a:t>‹#›</a:t>
            </a:fld>
            <a:endParaRPr lang="en-US"/>
          </a:p>
        </p:txBody>
      </p:sp>
    </p:spTree>
    <p:extLst>
      <p:ext uri="{BB962C8B-B14F-4D97-AF65-F5344CB8AC3E}">
        <p14:creationId xmlns:p14="http://schemas.microsoft.com/office/powerpoint/2010/main" val="4142225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82C7E9-F318-447C-BFF4-983903A9FDDA}"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7BAC66-6CC2-436C-89F8-09AC3AA45395}" type="slidenum">
              <a:rPr lang="en-US" smtClean="0"/>
              <a:t>‹#›</a:t>
            </a:fld>
            <a:endParaRPr lang="en-US"/>
          </a:p>
        </p:txBody>
      </p:sp>
    </p:spTree>
    <p:extLst>
      <p:ext uri="{BB962C8B-B14F-4D97-AF65-F5344CB8AC3E}">
        <p14:creationId xmlns:p14="http://schemas.microsoft.com/office/powerpoint/2010/main" val="2453126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82C7E9-F318-447C-BFF4-983903A9FDDA}" type="datetimeFigureOut">
              <a:rPr lang="en-US" smtClean="0"/>
              <a:t>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7BAC66-6CC2-436C-89F8-09AC3AA45395}" type="slidenum">
              <a:rPr lang="en-US" smtClean="0"/>
              <a:t>‹#›</a:t>
            </a:fld>
            <a:endParaRPr lang="en-US"/>
          </a:p>
        </p:txBody>
      </p:sp>
    </p:spTree>
    <p:extLst>
      <p:ext uri="{BB962C8B-B14F-4D97-AF65-F5344CB8AC3E}">
        <p14:creationId xmlns:p14="http://schemas.microsoft.com/office/powerpoint/2010/main" val="20870496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online-sciences.com/biology/types-of-transport-through-cell-membranes-active-transport-simple-facilitated-diffusi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74767"/>
            <a:ext cx="9144000" cy="1528354"/>
          </a:xfrm>
        </p:spPr>
        <p:txBody>
          <a:bodyPr>
            <a:normAutofit/>
          </a:bodyPr>
          <a:lstStyle/>
          <a:p>
            <a:pPr marL="0" marR="0">
              <a:lnSpc>
                <a:spcPct val="115000"/>
              </a:lnSpc>
              <a:spcBef>
                <a:spcPts val="0"/>
              </a:spcBef>
              <a:spcAft>
                <a:spcPts val="0"/>
              </a:spcAft>
            </a:pPr>
            <a:r>
              <a:rPr lang="en-US" sz="36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HISTOLOGY OF</a:t>
            </a:r>
            <a:br>
              <a:rPr lang="en-US" sz="3600" dirty="0">
                <a:effectLst/>
                <a:latin typeface="Calibri" panose="020F0502020204030204" pitchFamily="34" charset="0"/>
                <a:ea typeface="Calibri" panose="020F0502020204030204" pitchFamily="34" charset="0"/>
                <a:cs typeface="Arial" panose="020B0604020202020204" pitchFamily="34" charset="0"/>
              </a:rPr>
            </a:br>
            <a:r>
              <a:rPr lang="en-US" sz="3600" b="1" dirty="0">
                <a:solidFill>
                  <a:srgbClr val="FF0000"/>
                </a:solidFill>
                <a:latin typeface="Times New Roman" panose="02020603050405020304" pitchFamily="18" charset="0"/>
                <a:ea typeface="Calibri" panose="020F0502020204030204" pitchFamily="34" charset="0"/>
              </a:rPr>
              <a:t>CARDIOVASCULAR SYSTEM</a:t>
            </a:r>
            <a:endParaRPr lang="en-US" sz="3600" dirty="0"/>
          </a:p>
        </p:txBody>
      </p:sp>
      <p:sp>
        <p:nvSpPr>
          <p:cNvPr id="3" name="Subtitle 2"/>
          <p:cNvSpPr>
            <a:spLocks noGrp="1"/>
          </p:cNvSpPr>
          <p:nvPr>
            <p:ph type="subTitle" idx="1"/>
          </p:nvPr>
        </p:nvSpPr>
        <p:spPr>
          <a:xfrm>
            <a:off x="1524000" y="2103121"/>
            <a:ext cx="9144000" cy="4441370"/>
          </a:xfrm>
        </p:spPr>
        <p:txBody>
          <a:bodyPr>
            <a:noAutofit/>
          </a:bodyPr>
          <a:lstStyle/>
          <a:p>
            <a:pPr>
              <a:lnSpc>
                <a:spcPct val="150000"/>
              </a:lnSpc>
              <a:spcBef>
                <a:spcPts val="0"/>
              </a:spcBef>
            </a:pPr>
            <a:r>
              <a:rPr lang="en-US" sz="2800" b="1" dirty="0">
                <a:effectLst/>
                <a:latin typeface="Times New Roman" panose="02020603050405020304" pitchFamily="18" charset="0"/>
                <a:ea typeface="Calibri" panose="020F0502020204030204" pitchFamily="34" charset="0"/>
                <a:cs typeface="Arial" panose="020B0604020202020204" pitchFamily="34" charset="0"/>
              </a:rPr>
              <a:t>Lecture 3 (1st Week)</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a:lnSpc>
                <a:spcPct val="150000"/>
              </a:lnSpc>
              <a:spcBef>
                <a:spcPts val="0"/>
              </a:spcBef>
            </a:pPr>
            <a:r>
              <a:rPr lang="en-US" sz="2800" b="1" dirty="0">
                <a:effectLst/>
                <a:latin typeface="Times New Roman" panose="02020603050405020304" pitchFamily="18" charset="0"/>
                <a:ea typeface="Calibri" panose="020F0502020204030204" pitchFamily="34" charset="0"/>
                <a:cs typeface="Arial" panose="020B0604020202020204" pitchFamily="34" charset="0"/>
              </a:rPr>
              <a:t>Block 206 CVS</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a:lnSpc>
                <a:spcPct val="150000"/>
              </a:lnSpc>
              <a:spcBef>
                <a:spcPts val="0"/>
              </a:spcBef>
            </a:pPr>
            <a:r>
              <a:rPr lang="en-US" sz="2800" b="1" dirty="0">
                <a:effectLst/>
                <a:latin typeface="Times New Roman" panose="02020603050405020304" pitchFamily="18" charset="0"/>
                <a:ea typeface="Calibri" panose="020F0502020204030204" pitchFamily="34" charset="0"/>
                <a:cs typeface="Arial" panose="020B0604020202020204" pitchFamily="34" charset="0"/>
              </a:rPr>
              <a:t>Prepared by</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a:lnSpc>
                <a:spcPct val="150000"/>
              </a:lnSpc>
              <a:spcBef>
                <a:spcPts val="0"/>
              </a:spcBef>
            </a:pPr>
            <a:r>
              <a:rPr lang="en-US" sz="3200" b="1"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Prof./Ola Abd El </a:t>
            </a:r>
            <a:r>
              <a:rPr lang="en-US" sz="3200" b="1">
                <a:solidFill>
                  <a:srgbClr val="FF0000"/>
                </a:solidFill>
                <a:effectLst/>
                <a:latin typeface="Times New Roman" panose="02020603050405020304" pitchFamily="18" charset="0"/>
                <a:ea typeface="Calibri" panose="020F0502020204030204" pitchFamily="34" charset="0"/>
                <a:cs typeface="Arial" panose="020B0604020202020204" pitchFamily="34" charset="0"/>
              </a:rPr>
              <a:t>Tawab</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a:lnSpc>
                <a:spcPct val="150000"/>
              </a:lnSpc>
              <a:spcBef>
                <a:spcPts val="0"/>
              </a:spcBef>
              <a:spcAft>
                <a:spcPts val="800"/>
              </a:spcAft>
            </a:pPr>
            <a:r>
              <a:rPr lang="en-US" b="1" dirty="0">
                <a:latin typeface="Times New Roman" panose="02020603050405020304" pitchFamily="18" charset="0"/>
                <a:ea typeface="Calibri" panose="020F0502020204030204" pitchFamily="34" charset="0"/>
                <a:cs typeface="Arial" panose="020B0604020202020204" pitchFamily="34" charset="0"/>
              </a:rPr>
              <a:t>Professor of Histology- Faculty of Medicine- </a:t>
            </a:r>
            <a:r>
              <a:rPr lang="en-US" b="1" dirty="0" err="1">
                <a:latin typeface="Times New Roman" panose="02020603050405020304" pitchFamily="18" charset="0"/>
                <a:ea typeface="Calibri" panose="020F0502020204030204" pitchFamily="34" charset="0"/>
                <a:cs typeface="Arial" panose="020B0604020202020204" pitchFamily="34" charset="0"/>
              </a:rPr>
              <a:t>Assiut</a:t>
            </a:r>
            <a:r>
              <a:rPr lang="en-US" b="1" dirty="0">
                <a:latin typeface="Times New Roman" panose="02020603050405020304" pitchFamily="18" charset="0"/>
                <a:ea typeface="Calibri" panose="020F0502020204030204" pitchFamily="34" charset="0"/>
                <a:cs typeface="Arial" panose="020B0604020202020204" pitchFamily="34" charset="0"/>
              </a:rPr>
              <a:t> University</a:t>
            </a:r>
            <a:endParaRPr lang="en-US" dirty="0">
              <a:effectLst/>
              <a:latin typeface="Calibri" panose="020F0502020204030204" pitchFamily="34" charset="0"/>
              <a:ea typeface="Calibri" panose="020F0502020204030204" pitchFamily="34" charset="0"/>
              <a:cs typeface="Arial" panose="020B0604020202020204" pitchFamily="34" charset="0"/>
            </a:endParaRPr>
          </a:p>
          <a:p>
            <a:pPr>
              <a:lnSpc>
                <a:spcPct val="150000"/>
              </a:lnSpc>
              <a:spcBef>
                <a:spcPts val="0"/>
              </a:spcBef>
            </a:pPr>
            <a:r>
              <a:rPr lang="en-US" b="1" dirty="0">
                <a:latin typeface="Times New Roman" panose="02020603050405020304" pitchFamily="18" charset="0"/>
                <a:ea typeface="Calibri" panose="020F0502020204030204" pitchFamily="34" charset="0"/>
                <a:cs typeface="Arial" panose="020B0604020202020204" pitchFamily="34" charset="0"/>
              </a:rPr>
              <a:t>Histology Department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a:lnSpc>
                <a:spcPct val="150000"/>
              </a:lnSpc>
              <a:spcBef>
                <a:spcPts val="0"/>
              </a:spcBef>
            </a:pPr>
            <a:r>
              <a:rPr lang="en-US" b="1" dirty="0">
                <a:latin typeface="Times New Roman" panose="02020603050405020304" pitchFamily="18" charset="0"/>
                <a:ea typeface="Calibri" panose="020F0502020204030204" pitchFamily="34" charset="0"/>
                <a:cs typeface="Arial" panose="020B0604020202020204" pitchFamily="34" charset="0"/>
              </a:rPr>
              <a:t>2021-2022</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6192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09897"/>
            <a:ext cx="10515600" cy="5367066"/>
          </a:xfrm>
        </p:spPr>
        <p:txBody>
          <a:bodyPr>
            <a:normAutofit lnSpcReduction="10000"/>
          </a:bodyPr>
          <a:lstStyle/>
          <a:p>
            <a:pPr marL="0" marR="0" algn="just">
              <a:lnSpc>
                <a:spcPct val="150000"/>
              </a:lnSpc>
              <a:spcBef>
                <a:spcPts val="0"/>
              </a:spcBef>
              <a:spcAft>
                <a:spcPts val="800"/>
              </a:spcAft>
            </a:pPr>
            <a:r>
              <a:rPr lang="en-US" b="1" u="sng" dirty="0">
                <a:highlight>
                  <a:srgbClr val="D3D3D3"/>
                </a:highlight>
                <a:latin typeface="Times New Roman" panose="02020603050405020304" pitchFamily="18" charset="0"/>
                <a:ea typeface="Calibri" panose="020F0502020204030204" pitchFamily="34" charset="0"/>
                <a:cs typeface="Arial" panose="020B0604020202020204" pitchFamily="34" charset="0"/>
              </a:rPr>
              <a:t>Learning objectives (1st week/Lecture 1)</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dirty="0">
                <a:highlight>
                  <a:srgbClr val="D3D3D3"/>
                </a:highlight>
                <a:latin typeface="Times New Roman" panose="02020603050405020304" pitchFamily="18" charset="0"/>
                <a:ea typeface="Calibri" panose="020F0502020204030204" pitchFamily="34" charset="0"/>
                <a:cs typeface="Arial" panose="020B0604020202020204" pitchFamily="34" charset="0"/>
              </a:rPr>
              <a:t> After the lecture, students should be able to: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dirty="0">
                <a:highlight>
                  <a:srgbClr val="D3D3D3"/>
                </a:highlight>
                <a:latin typeface="Times New Roman" panose="02020603050405020304" pitchFamily="18" charset="0"/>
                <a:ea typeface="Calibri" panose="020F0502020204030204" pitchFamily="34" charset="0"/>
                <a:cs typeface="Arial" panose="020B0604020202020204" pitchFamily="34" charset="0"/>
              </a:rPr>
              <a:t>▪ Recognize the different parts of the heart.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dirty="0">
                <a:highlight>
                  <a:srgbClr val="D3D3D3"/>
                </a:highlight>
                <a:latin typeface="Times New Roman" panose="02020603050405020304" pitchFamily="18" charset="0"/>
                <a:ea typeface="Calibri" panose="020F0502020204030204" pitchFamily="34" charset="0"/>
                <a:cs typeface="Arial" panose="020B0604020202020204" pitchFamily="34" charset="0"/>
              </a:rPr>
              <a:t>▪ List the names of layers of cardiac wall, (Epicardium, pericardium, endocardium).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dirty="0">
                <a:highlight>
                  <a:srgbClr val="D3D3D3"/>
                </a:highlight>
                <a:latin typeface="Times New Roman" panose="02020603050405020304" pitchFamily="18" charset="0"/>
                <a:ea typeface="Calibri" panose="020F0502020204030204" pitchFamily="34" charset="0"/>
                <a:cs typeface="Arial" panose="020B0604020202020204" pitchFamily="34" charset="0"/>
              </a:rPr>
              <a:t>▪ Discuss the normal structure of cardiac skeleton and cardiac valves.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dirty="0">
                <a:highlight>
                  <a:srgbClr val="D3D3D3"/>
                </a:highlight>
                <a:latin typeface="Times New Roman" panose="02020603050405020304" pitchFamily="18" charset="0"/>
                <a:ea typeface="Calibri" panose="020F0502020204030204" pitchFamily="34" charset="0"/>
                <a:cs typeface="Arial" panose="020B0604020202020204" pitchFamily="34" charset="0"/>
              </a:rPr>
              <a:t>▪ Describe the normal structure of intercalated disc.</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r>
              <a:rPr lang="en-US" dirty="0">
                <a:highlight>
                  <a:srgbClr val="D3D3D3"/>
                </a:highlight>
                <a:latin typeface="Times New Roman" panose="02020603050405020304" pitchFamily="18" charset="0"/>
                <a:ea typeface="Calibri" panose="020F0502020204030204" pitchFamily="34" charset="0"/>
              </a:rPr>
              <a:t> ▪ Identify and describe the structure of Purkinje muscle fibers.</a:t>
            </a:r>
            <a:endParaRPr lang="en-US" dirty="0"/>
          </a:p>
        </p:txBody>
      </p:sp>
    </p:spTree>
    <p:extLst>
      <p:ext uri="{BB962C8B-B14F-4D97-AF65-F5344CB8AC3E}">
        <p14:creationId xmlns:p14="http://schemas.microsoft.com/office/powerpoint/2010/main" val="1005759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Histology of the heart</a:t>
            </a:r>
            <a:endParaRPr lang="en-US" dirty="0"/>
          </a:p>
        </p:txBody>
      </p:sp>
      <p:sp>
        <p:nvSpPr>
          <p:cNvPr id="3" name="Content Placeholder 2"/>
          <p:cNvSpPr>
            <a:spLocks noGrp="1"/>
          </p:cNvSpPr>
          <p:nvPr>
            <p:ph idx="1"/>
          </p:nvPr>
        </p:nvSpPr>
        <p:spPr/>
        <p:txBody>
          <a:bodyPr/>
          <a:lstStyle/>
          <a:p>
            <a:pPr marL="0" marR="0" algn="just">
              <a:lnSpc>
                <a:spcPct val="150000"/>
              </a:lnSpc>
              <a:spcBef>
                <a:spcPts val="0"/>
              </a:spcBef>
              <a:spcAft>
                <a:spcPts val="1200"/>
              </a:spcAft>
            </a:pPr>
            <a:r>
              <a:rPr lang="en-US" dirty="0">
                <a:solidFill>
                  <a:srgbClr val="000000"/>
                </a:solidFill>
                <a:latin typeface="Times New Roman" panose="02020603050405020304" pitchFamily="18" charset="0"/>
                <a:ea typeface="Times New Roman" panose="02020603050405020304" pitchFamily="18" charset="0"/>
                <a:cs typeface="Arial" panose="020B0604020202020204" pitchFamily="34" charset="0"/>
              </a:rPr>
              <a:t>The histology of the cardiovascular system plays the main role in its function. The cardiovascular system consists of the heart, arteries, microvascular bed, veins and lymphatic vessels. These components have the main role to exchange oxygen, carbon dioxide, metabolites, salts, water and metabolic waste products.</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52672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normAutofit fontScale="90000"/>
          </a:bodyPr>
          <a:lstStyle/>
          <a:p>
            <a:pPr lvl="0" indent="-228600" algn="ctr">
              <a:lnSpc>
                <a:spcPct val="150000"/>
              </a:lnSpc>
              <a:spcBef>
                <a:spcPts val="0"/>
              </a:spcBef>
              <a:spcAft>
                <a:spcPts val="800"/>
              </a:spcAft>
            </a:pPr>
            <a:r>
              <a:rPr lang="en-US" sz="3600" b="1" u="sng" dirty="0">
                <a:solidFill>
                  <a:srgbClr val="FF0000"/>
                </a:solidFill>
                <a:latin typeface="Times New Roman" panose="02020603050405020304" pitchFamily="18" charset="0"/>
                <a:ea typeface="Calibri" panose="020F0502020204030204" pitchFamily="34" charset="0"/>
                <a:cs typeface="Arial" panose="020B0604020202020204" pitchFamily="34" charset="0"/>
              </a:rPr>
              <a:t>Histology of the heart: </a:t>
            </a:r>
            <a:endParaRPr lang="en-US" sz="3600" dirty="0">
              <a:solidFill>
                <a:prstClr val="black"/>
              </a:solidFill>
              <a:latin typeface="Calibri" panose="020F0502020204030204" pitchFamily="34" charset="0"/>
              <a:ea typeface="Calibri" panose="020F0502020204030204" pitchFamily="34" charset="0"/>
              <a:cs typeface="Arial" panose="020B0604020202020204" pitchFamily="34" charset="0"/>
            </a:endParaRPr>
          </a:p>
        </p:txBody>
      </p:sp>
      <p:sp>
        <p:nvSpPr>
          <p:cNvPr id="3" name="Content Placeholder 2"/>
          <p:cNvSpPr>
            <a:spLocks noGrp="1"/>
          </p:cNvSpPr>
          <p:nvPr>
            <p:ph idx="1"/>
          </p:nvPr>
        </p:nvSpPr>
        <p:spPr>
          <a:xfrm>
            <a:off x="313509" y="1201784"/>
            <a:ext cx="11469188" cy="5656216"/>
          </a:xfrm>
        </p:spPr>
        <p:txBody>
          <a:bodyPr>
            <a:noAutofit/>
          </a:bodyPr>
          <a:lstStyle/>
          <a:p>
            <a:pPr marL="0" marR="0" algn="just">
              <a:lnSpc>
                <a:spcPct val="150000"/>
              </a:lnSpc>
              <a:spcBef>
                <a:spcPts val="0"/>
              </a:spcBef>
              <a:spcAft>
                <a:spcPts val="800"/>
              </a:spcAft>
            </a:pPr>
            <a:r>
              <a:rPr lang="en-US" sz="2400" dirty="0">
                <a:latin typeface="Times New Roman" panose="02020603050405020304" pitchFamily="18" charset="0"/>
                <a:ea typeface="Calibri" panose="020F0502020204030204" pitchFamily="34" charset="0"/>
                <a:cs typeface="Arial" panose="020B0604020202020204" pitchFamily="34" charset="0"/>
              </a:rPr>
              <a:t>The heart wall can be divided into three layers: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50000"/>
              </a:lnSpc>
              <a:spcBef>
                <a:spcPts val="0"/>
              </a:spcBef>
              <a:spcAft>
                <a:spcPts val="120"/>
              </a:spcAft>
              <a:buSzPts val="1000"/>
              <a:buFont typeface="Symbol" panose="05050102010706020507" pitchFamily="18" charset="2"/>
              <a:buChar char=""/>
              <a:tabLst>
                <a:tab pos="457200" algn="l"/>
              </a:tabLst>
            </a:pPr>
            <a:r>
              <a:rPr lang="en-US" sz="2400" dirty="0">
                <a:latin typeface="Times New Roman" panose="02020603050405020304" pitchFamily="18" charset="0"/>
                <a:ea typeface="Calibri" panose="020F0502020204030204" pitchFamily="34" charset="0"/>
                <a:cs typeface="Arial" panose="020B0604020202020204" pitchFamily="34" charset="0"/>
              </a:rPr>
              <a:t>(1) </a:t>
            </a:r>
            <a:r>
              <a:rPr lang="en-US" sz="2400" b="1" u="sng" dirty="0">
                <a:latin typeface="Times New Roman" panose="02020603050405020304" pitchFamily="18" charset="0"/>
                <a:ea typeface="Calibri" panose="020F0502020204030204" pitchFamily="34" charset="0"/>
                <a:cs typeface="Arial" panose="020B0604020202020204" pitchFamily="34" charset="0"/>
              </a:rPr>
              <a:t>The endocardium</a:t>
            </a:r>
            <a:r>
              <a:rPr lang="en-US" sz="2400" dirty="0">
                <a:latin typeface="Times New Roman" panose="02020603050405020304" pitchFamily="18" charset="0"/>
                <a:ea typeface="Calibri" panose="020F0502020204030204" pitchFamily="34" charset="0"/>
                <a:cs typeface="Arial" panose="020B0604020202020204" pitchFamily="34" charset="0"/>
              </a:rPr>
              <a:t>  : </a:t>
            </a:r>
            <a:r>
              <a:rPr lang="en-US" sz="2400"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Innermost layer of the heart (lines the atria and ventricles and covers the heart valves) and contains blood vessels.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50000"/>
              </a:lnSpc>
              <a:spcBef>
                <a:spcPts val="0"/>
              </a:spcBef>
              <a:spcAft>
                <a:spcPts val="120"/>
              </a:spcAft>
              <a:buSzPts val="1000"/>
              <a:buFont typeface="Symbol" panose="05050102010706020507" pitchFamily="18" charset="2"/>
              <a:buChar char=""/>
              <a:tabLst>
                <a:tab pos="457200" algn="l"/>
              </a:tabLst>
            </a:pPr>
            <a:r>
              <a:rPr lang="en-US" sz="2400"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Has 3 sublayers: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50000"/>
              </a:lnSpc>
              <a:spcBef>
                <a:spcPts val="0"/>
              </a:spcBef>
              <a:spcAft>
                <a:spcPts val="120"/>
              </a:spcAft>
              <a:buSzPts val="1000"/>
              <a:buFont typeface="Symbol" panose="05050102010706020507" pitchFamily="18" charset="2"/>
              <a:buChar char=""/>
              <a:tabLst>
                <a:tab pos="1600200" algn="l"/>
              </a:tabLst>
            </a:pP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Endothelium - innermost portion is a simple squamous epithelium.</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50000"/>
              </a:lnSpc>
              <a:spcBef>
                <a:spcPts val="0"/>
              </a:spcBef>
              <a:spcAft>
                <a:spcPts val="120"/>
              </a:spcAft>
              <a:buSzPts val="1000"/>
              <a:buFont typeface="Symbol" panose="05050102010706020507" pitchFamily="18" charset="2"/>
              <a:buChar char=""/>
              <a:tabLst>
                <a:tab pos="1600200" algn="l"/>
              </a:tabLst>
            </a:pP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Smooth Muscle and Connective Tissue - middle layer of the endocardium is mix of connective tissue and smooth muscle.</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50000"/>
              </a:lnSpc>
              <a:spcBef>
                <a:spcPts val="0"/>
              </a:spcBef>
              <a:spcAft>
                <a:spcPts val="120"/>
              </a:spcAft>
              <a:buSzPts val="1000"/>
              <a:buFont typeface="Symbol" panose="05050102010706020507" pitchFamily="18" charset="2"/>
              <a:buChar char=""/>
              <a:tabLst>
                <a:tab pos="1600200" algn="l"/>
              </a:tabLst>
            </a:pP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Sub endocardial Layer - outer layer of the endocardium is loose connective tissue joining the endocardium and myocardium.</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120"/>
              </a:spcAft>
              <a:buSzPts val="1000"/>
              <a:buFont typeface="Symbol" panose="05050102010706020507" pitchFamily="18" charset="2"/>
              <a:buChar char=""/>
              <a:tabLst>
                <a:tab pos="457200" algn="l"/>
              </a:tabLst>
            </a:pPr>
            <a:r>
              <a:rPr lang="en-US" sz="2400"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equivalent to tunica intima.</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endParaRPr lang="en-US" sz="2400" dirty="0"/>
          </a:p>
        </p:txBody>
      </p:sp>
    </p:spTree>
    <p:extLst>
      <p:ext uri="{BB962C8B-B14F-4D97-AF65-F5344CB8AC3E}">
        <p14:creationId xmlns:p14="http://schemas.microsoft.com/office/powerpoint/2010/main" val="2576278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8011"/>
            <a:ext cx="10515600" cy="5758952"/>
          </a:xfrm>
        </p:spPr>
        <p:txBody>
          <a:bodyPr>
            <a:normAutofit fontScale="92500" lnSpcReduction="20000"/>
          </a:bodyPr>
          <a:lstStyle/>
          <a:p>
            <a:pPr marL="0" marR="0" algn="just">
              <a:lnSpc>
                <a:spcPct val="107000"/>
              </a:lnSpc>
              <a:spcBef>
                <a:spcPts val="0"/>
              </a:spcBef>
              <a:spcAft>
                <a:spcPts val="120"/>
              </a:spcAft>
            </a:pPr>
            <a:r>
              <a:rPr lang="en-US" dirty="0">
                <a:latin typeface="Times New Roman" panose="02020603050405020304" pitchFamily="18" charset="0"/>
                <a:ea typeface="Calibri" panose="020F0502020204030204" pitchFamily="34" charset="0"/>
                <a:cs typeface="Arial" panose="020B0604020202020204" pitchFamily="34" charset="0"/>
              </a:rPr>
              <a:t>(2) </a:t>
            </a:r>
            <a:r>
              <a:rPr lang="en-US" b="1" u="sng" dirty="0">
                <a:latin typeface="Times New Roman" panose="02020603050405020304" pitchFamily="18" charset="0"/>
                <a:ea typeface="Calibri" panose="020F0502020204030204" pitchFamily="34" charset="0"/>
                <a:cs typeface="Arial" panose="020B0604020202020204" pitchFamily="34" charset="0"/>
              </a:rPr>
              <a:t>The myocardium</a:t>
            </a:r>
            <a:r>
              <a:rPr lang="en-US" dirty="0">
                <a:latin typeface="Times New Roman" panose="02020603050405020304" pitchFamily="18" charset="0"/>
                <a:ea typeface="Calibri" panose="020F0502020204030204" pitchFamily="34" charset="0"/>
                <a:cs typeface="Arial" panose="020B0604020202020204" pitchFamily="34" charset="0"/>
              </a:rPr>
              <a:t> : </a:t>
            </a: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Middle layer of the heart, thickest layer contains cardio myocytes and blood vessels.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07000"/>
              </a:lnSpc>
              <a:spcBef>
                <a:spcPts val="0"/>
              </a:spcBef>
              <a:spcAft>
                <a:spcPts val="120"/>
              </a:spcAft>
            </a:pP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 Contains cardiac muscle fibers and loose </a:t>
            </a:r>
            <a:r>
              <a:rPr lang="en-US" dirty="0" err="1">
                <a:solidFill>
                  <a:srgbClr val="212529"/>
                </a:solidFill>
                <a:latin typeface="Times New Roman" panose="02020603050405020304" pitchFamily="18" charset="0"/>
                <a:ea typeface="Times New Roman" panose="02020603050405020304" pitchFamily="18" charset="0"/>
                <a:cs typeface="Arial" panose="020B0604020202020204" pitchFamily="34" charset="0"/>
              </a:rPr>
              <a:t>endomysial</a:t>
            </a: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 connective tissue containing many capillaries.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120"/>
              </a:spcAft>
              <a:buSzPts val="1000"/>
              <a:buFont typeface="Symbol" panose="05050102010706020507" pitchFamily="18" charset="2"/>
              <a:buChar char=""/>
              <a:tabLst>
                <a:tab pos="457200" algn="l"/>
              </a:tabLst>
            </a:pP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Muscular layer.</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120"/>
              </a:spcAft>
              <a:buSzPts val="1000"/>
              <a:buFont typeface="Symbol" panose="05050102010706020507" pitchFamily="18" charset="2"/>
              <a:buChar char=""/>
              <a:tabLst>
                <a:tab pos="457200" algn="l"/>
              </a:tabLst>
            </a:pP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equivalent to tunica media.</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(3) </a:t>
            </a:r>
            <a:r>
              <a:rPr lang="en-US" b="1" u="sng" dirty="0">
                <a:latin typeface="Times New Roman" panose="02020603050405020304" pitchFamily="18" charset="0"/>
                <a:ea typeface="Calibri" panose="020F0502020204030204" pitchFamily="34" charset="0"/>
                <a:cs typeface="Arial" panose="020B0604020202020204" pitchFamily="34" charset="0"/>
              </a:rPr>
              <a:t>The epicardium</a:t>
            </a:r>
            <a:r>
              <a:rPr lang="en-US" dirty="0">
                <a:latin typeface="Times New Roman" panose="02020603050405020304" pitchFamily="18" charset="0"/>
                <a:ea typeface="Calibri" panose="020F0502020204030204" pitchFamily="34" charset="0"/>
                <a:cs typeface="Arial" panose="020B0604020202020204" pitchFamily="34" charset="0"/>
              </a:rPr>
              <a:t> :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 </a:t>
            </a: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Outer layer of the heart, contains blood vessels , lymphatics (visceral layer of the pericardium)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0"/>
              </a:spcAft>
            </a:pP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 Fibro elastic connective tissue, blood vessels, lymphatics and adipose tissue and covered by simple squamous epithelium (called mesothelium).</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15000"/>
              </a:lnSpc>
              <a:spcBef>
                <a:spcPts val="0"/>
              </a:spcBef>
              <a:spcAft>
                <a:spcPts val="0"/>
              </a:spcAft>
              <a:buSzPts val="1000"/>
              <a:buFont typeface="Symbol" panose="05050102010706020507" pitchFamily="18" charset="2"/>
              <a:buChar char=""/>
              <a:tabLst>
                <a:tab pos="457200" algn="l"/>
              </a:tabLst>
            </a:pP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Visceral layer of pericardium rather thin.</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15000"/>
              </a:lnSpc>
              <a:spcBef>
                <a:spcPts val="0"/>
              </a:spcBef>
              <a:spcAft>
                <a:spcPts val="0"/>
              </a:spcAft>
              <a:buSzPts val="1000"/>
              <a:buFont typeface="Symbol" panose="05050102010706020507" pitchFamily="18" charset="2"/>
              <a:buChar char=""/>
              <a:tabLst>
                <a:tab pos="457200" algn="l"/>
              </a:tabLst>
            </a:pPr>
            <a:r>
              <a:rPr lang="en-US" dirty="0">
                <a:solidFill>
                  <a:srgbClr val="212529"/>
                </a:solidFill>
                <a:latin typeface="Times New Roman" panose="02020603050405020304" pitchFamily="18" charset="0"/>
                <a:ea typeface="Times New Roman" panose="02020603050405020304" pitchFamily="18" charset="0"/>
                <a:cs typeface="Arial" panose="020B0604020202020204" pitchFamily="34" charset="0"/>
              </a:rPr>
              <a:t>Equivalent to tunica adventitia.</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036640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67989" y="1045029"/>
            <a:ext cx="8856617" cy="5131934"/>
          </a:xfrm>
          <a:prstGeom prst="rect">
            <a:avLst/>
          </a:prstGeom>
        </p:spPr>
      </p:pic>
    </p:spTree>
    <p:extLst>
      <p:ext uri="{BB962C8B-B14F-4D97-AF65-F5344CB8AC3E}">
        <p14:creationId xmlns:p14="http://schemas.microsoft.com/office/powerpoint/2010/main" val="3376237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5577"/>
            <a:ext cx="10515600" cy="5641386"/>
          </a:xfrm>
        </p:spPr>
        <p:txBody>
          <a:bodyPr>
            <a:normAutofit fontScale="92500" lnSpcReduction="10000"/>
          </a:bodyPr>
          <a:lstStyle/>
          <a:p>
            <a:pPr marL="0" marR="0" algn="just">
              <a:lnSpc>
                <a:spcPct val="150000"/>
              </a:lnSpc>
              <a:spcBef>
                <a:spcPts val="0"/>
              </a:spcBef>
              <a:spcAft>
                <a:spcPts val="800"/>
              </a:spcAft>
            </a:pPr>
            <a:r>
              <a:rPr lang="en-US" dirty="0">
                <a:latin typeface="Times New Roman" panose="02020603050405020304" pitchFamily="18" charset="0"/>
                <a:ea typeface="Calibri" panose="020F0502020204030204" pitchFamily="34" charset="0"/>
                <a:cs typeface="Arial" panose="020B0604020202020204" pitchFamily="34" charset="0"/>
              </a:rPr>
              <a:t>The mammalian heart has four chambers, two thin-walled atria and two thicker-walled ventricles.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b="1" u="sng" dirty="0">
                <a:solidFill>
                  <a:srgbClr val="FF0000"/>
                </a:solidFill>
                <a:latin typeface="Times New Roman" panose="02020603050405020304" pitchFamily="18" charset="0"/>
                <a:ea typeface="Calibri" panose="020F0502020204030204" pitchFamily="34" charset="0"/>
                <a:cs typeface="Arial" panose="020B0604020202020204" pitchFamily="34" charset="0"/>
              </a:rPr>
              <a:t>Cardiac skeleton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dirty="0">
                <a:latin typeface="Times New Roman" panose="02020603050405020304" pitchFamily="18" charset="0"/>
                <a:ea typeface="Calibri" panose="020F0502020204030204" pitchFamily="34" charset="0"/>
                <a:cs typeface="Arial" panose="020B0604020202020204" pitchFamily="34" charset="0"/>
              </a:rPr>
              <a:t>The central supporting structure of the heart is the "cardiac skeleton," composed of dense white fibrous (collagenous) connective tissue into which the cardiac muscle fibers of the atria and ventricles insert and to which the heart valves are attached. In some species, these fibrous rings have a cartilage-like appearance. This skeleton provides structure and support for the heart, as well as isolating the atria from the ventricles. </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155431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49086" y="587830"/>
            <a:ext cx="10398033" cy="5786844"/>
          </a:xfrm>
          <a:prstGeom prst="rect">
            <a:avLst/>
          </a:prstGeom>
        </p:spPr>
      </p:pic>
    </p:spTree>
    <p:extLst>
      <p:ext uri="{BB962C8B-B14F-4D97-AF65-F5344CB8AC3E}">
        <p14:creationId xmlns:p14="http://schemas.microsoft.com/office/powerpoint/2010/main" val="1729407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30"/>
            <a:ext cx="10515600" cy="796834"/>
          </a:xfrm>
        </p:spPr>
        <p:txBody>
          <a:bodyPr>
            <a:normAutofit fontScale="90000"/>
          </a:bodyPr>
          <a:lstStyle/>
          <a:p>
            <a:pPr lvl="0" indent="-228600" algn="ctr">
              <a:lnSpc>
                <a:spcPct val="150000"/>
              </a:lnSpc>
              <a:spcBef>
                <a:spcPts val="0"/>
              </a:spcBef>
              <a:spcAft>
                <a:spcPts val="800"/>
              </a:spcAft>
            </a:pPr>
            <a:r>
              <a:rPr lang="en-US" sz="4000" b="1" u="sng" dirty="0">
                <a:solidFill>
                  <a:srgbClr val="FF0000"/>
                </a:solidFill>
                <a:latin typeface="Times New Roman" panose="02020603050405020304" pitchFamily="18" charset="0"/>
                <a:ea typeface="Calibri" panose="020F0502020204030204" pitchFamily="34" charset="0"/>
                <a:cs typeface="Arial" panose="020B0604020202020204" pitchFamily="34" charset="0"/>
              </a:rPr>
              <a:t>Cardiac valves:</a:t>
            </a:r>
            <a:endParaRPr lang="en-US" sz="4000" dirty="0">
              <a:solidFill>
                <a:prstClr val="black"/>
              </a:solidFill>
              <a:latin typeface="Calibri" panose="020F0502020204030204" pitchFamily="34" charset="0"/>
              <a:ea typeface="Calibri" panose="020F0502020204030204" pitchFamily="34" charset="0"/>
              <a:cs typeface="Arial" panose="020B0604020202020204" pitchFamily="34" charset="0"/>
            </a:endParaRPr>
          </a:p>
        </p:txBody>
      </p:sp>
      <p:sp>
        <p:nvSpPr>
          <p:cNvPr id="3" name="Content Placeholder 2"/>
          <p:cNvSpPr>
            <a:spLocks noGrp="1"/>
          </p:cNvSpPr>
          <p:nvPr>
            <p:ph idx="1"/>
          </p:nvPr>
        </p:nvSpPr>
        <p:spPr>
          <a:xfrm>
            <a:off x="431073" y="836024"/>
            <a:ext cx="11377749" cy="5340940"/>
          </a:xfrm>
        </p:spPr>
        <p:txBody>
          <a:bodyPr>
            <a:noAutofit/>
          </a:bodyPr>
          <a:lstStyle/>
          <a:p>
            <a:pPr marL="0" marR="0" algn="just">
              <a:lnSpc>
                <a:spcPct val="150000"/>
              </a:lnSpc>
              <a:spcBef>
                <a:spcPts val="0"/>
              </a:spcBef>
              <a:spcAft>
                <a:spcPts val="800"/>
              </a:spcAft>
            </a:pPr>
            <a:r>
              <a:rPr lang="en-US" sz="2400" dirty="0">
                <a:latin typeface="Times New Roman" panose="02020603050405020304" pitchFamily="18" charset="0"/>
                <a:ea typeface="Calibri" panose="020F0502020204030204" pitchFamily="34" charset="0"/>
                <a:cs typeface="Arial" panose="020B0604020202020204" pitchFamily="34" charset="0"/>
              </a:rPr>
              <a:t>The orifices of the four chambers are guarded by valves, which are endocardial folds supported by internal plates of dense collagenous and elastic connective tissue continuous with the cardiac skeleton. The right atrioventricular valve has three cusps; hence, it is called the tricuspid valve. The left atrioventricular valve has two cusps  and  is called the bicuspid, or mitral valve. Semilunar valves located at the ventricular entrance to the aorta and pulmonary arteries have three cusps each. The valves are arranged to prevent retrograde or reverse blood flow. The innermost part of the valves is continuous with the fibrous rings. The atrioventricular valves have connective tissue extensions, the chordae </a:t>
            </a:r>
            <a:r>
              <a:rPr lang="en-US" sz="2400" dirty="0" err="1">
                <a:latin typeface="Times New Roman" panose="02020603050405020304" pitchFamily="18" charset="0"/>
                <a:ea typeface="Calibri" panose="020F0502020204030204" pitchFamily="34" charset="0"/>
                <a:cs typeface="Arial" panose="020B0604020202020204" pitchFamily="34" charset="0"/>
              </a:rPr>
              <a:t>tendinea</a:t>
            </a:r>
            <a:r>
              <a:rPr lang="en-US" sz="2400" dirty="0">
                <a:latin typeface="Times New Roman" panose="02020603050405020304" pitchFamily="18" charset="0"/>
                <a:ea typeface="Calibri" panose="020F0502020204030204" pitchFamily="34" charset="0"/>
                <a:cs typeface="Arial" panose="020B0604020202020204" pitchFamily="34" charset="0"/>
              </a:rPr>
              <a:t>, which connect to muscular extensions of the inner heart wall called papillary muscles. </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443341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27463"/>
          </a:xfrm>
        </p:spPr>
        <p:txBody>
          <a:bodyPr>
            <a:normAutofit fontScale="90000"/>
          </a:bodyPr>
          <a:lstStyle/>
          <a:p>
            <a:pPr lvl="0" indent="-228600" algn="ctr">
              <a:lnSpc>
                <a:spcPct val="150000"/>
              </a:lnSpc>
              <a:spcBef>
                <a:spcPts val="0"/>
              </a:spcBef>
              <a:spcAft>
                <a:spcPts val="800"/>
              </a:spcAft>
            </a:pPr>
            <a:r>
              <a:rPr lang="en-US" sz="4000" b="1" u="sng" dirty="0">
                <a:solidFill>
                  <a:srgbClr val="FF0000"/>
                </a:solidFill>
                <a:latin typeface="Times New Roman" panose="02020603050405020304" pitchFamily="18" charset="0"/>
                <a:ea typeface="Calibri" panose="020F0502020204030204" pitchFamily="34" charset="0"/>
                <a:cs typeface="Arial" panose="020B0604020202020204" pitchFamily="34" charset="0"/>
              </a:rPr>
              <a:t>Purkinje fibers : </a:t>
            </a:r>
            <a:endParaRPr lang="en-US" sz="4000" dirty="0">
              <a:solidFill>
                <a:prstClr val="black"/>
              </a:solidFill>
              <a:latin typeface="Calibri" panose="020F0502020204030204" pitchFamily="34" charset="0"/>
              <a:ea typeface="Calibri" panose="020F0502020204030204" pitchFamily="34" charset="0"/>
              <a:cs typeface="Arial" panose="020B0604020202020204" pitchFamily="34" charset="0"/>
            </a:endParaRPr>
          </a:p>
        </p:txBody>
      </p:sp>
      <p:sp>
        <p:nvSpPr>
          <p:cNvPr id="3" name="Content Placeholder 2"/>
          <p:cNvSpPr>
            <a:spLocks noGrp="1"/>
          </p:cNvSpPr>
          <p:nvPr>
            <p:ph idx="1"/>
          </p:nvPr>
        </p:nvSpPr>
        <p:spPr>
          <a:xfrm>
            <a:off x="339635" y="809897"/>
            <a:ext cx="11534502" cy="6048103"/>
          </a:xfrm>
        </p:spPr>
        <p:txBody>
          <a:bodyPr>
            <a:noAutofit/>
          </a:bodyPr>
          <a:lstStyle/>
          <a:p>
            <a:pPr marL="342900" marR="0" lvl="0" indent="-342900">
              <a:lnSpc>
                <a:spcPct val="100000"/>
              </a:lnSpc>
              <a:spcBef>
                <a:spcPts val="0"/>
              </a:spcBef>
              <a:spcAft>
                <a:spcPts val="120"/>
              </a:spcAft>
              <a:buSzPts val="1000"/>
              <a:buFont typeface="Symbol" panose="05050102010706020507" pitchFamily="18" charset="2"/>
              <a:buChar char=""/>
              <a:tabLst>
                <a:tab pos="457200" algn="l"/>
              </a:tabLst>
            </a:pPr>
            <a:r>
              <a:rPr lang="en-US"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Modified cardiac muscle cells and </a:t>
            </a:r>
            <a:r>
              <a:rPr lang="en-US" dirty="0">
                <a:latin typeface="Times New Roman" panose="02020603050405020304" pitchFamily="18" charset="0"/>
                <a:ea typeface="Calibri" panose="020F0502020204030204" pitchFamily="34" charset="0"/>
                <a:cs typeface="Times New Roman" panose="02020603050405020304" pitchFamily="18" charset="0"/>
              </a:rPr>
              <a:t> larger than  ordinary cardiac muscle with fewer myofibrils and many mitochondria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0000"/>
              </a:lnSpc>
              <a:spcBef>
                <a:spcPts val="0"/>
              </a:spcBef>
              <a:spcAft>
                <a:spcPts val="120"/>
              </a:spcAft>
              <a:buSzPts val="1000"/>
              <a:buFont typeface="Symbol" panose="05050102010706020507" pitchFamily="18" charset="2"/>
              <a:buChar char=""/>
              <a:tabLst>
                <a:tab pos="457200" algn="l"/>
              </a:tabLst>
            </a:pPr>
            <a:r>
              <a:rPr lang="en-US"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Compared to ordinary cardiac muscle cells:</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nSpc>
                <a:spcPct val="100000"/>
              </a:lnSpc>
              <a:spcBef>
                <a:spcPts val="0"/>
              </a:spcBef>
              <a:spcAft>
                <a:spcPts val="120"/>
              </a:spcAft>
              <a:buSzPts val="1000"/>
              <a:buFont typeface="Symbol" panose="05050102010706020507" pitchFamily="18" charset="2"/>
              <a:buChar char=""/>
              <a:tabLst>
                <a:tab pos="914400" algn="l"/>
              </a:tabLst>
            </a:pPr>
            <a:r>
              <a:rPr lang="en-US" sz="2800"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Contain large amounts of glycogen.</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nSpc>
                <a:spcPct val="100000"/>
              </a:lnSpc>
              <a:spcBef>
                <a:spcPts val="0"/>
              </a:spcBef>
              <a:spcAft>
                <a:spcPts val="120"/>
              </a:spcAft>
              <a:buSzPts val="1000"/>
              <a:buFont typeface="Symbol" panose="05050102010706020507" pitchFamily="18" charset="2"/>
              <a:buChar char=""/>
              <a:tabLst>
                <a:tab pos="914400" algn="l"/>
              </a:tabLst>
            </a:pPr>
            <a:r>
              <a:rPr lang="en-US" sz="2800"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Fewer myofibrils.</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   * </a:t>
            </a:r>
            <a:r>
              <a:rPr lang="en-US" sz="2800"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Thicker cells.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0000"/>
              </a:lnSpc>
              <a:spcBef>
                <a:spcPts val="0"/>
              </a:spcBef>
              <a:spcAft>
                <a:spcPts val="120"/>
              </a:spcAft>
              <a:buSzPts val="1000"/>
              <a:buFont typeface="Symbol" panose="05050102010706020507" pitchFamily="18" charset="2"/>
              <a:buChar char=""/>
              <a:tabLst>
                <a:tab pos="457200" algn="l"/>
              </a:tabLst>
            </a:pPr>
            <a:r>
              <a:rPr lang="en-US"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Can be </a:t>
            </a:r>
            <a:r>
              <a:rPr lang="en-US" dirty="0" err="1">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binucleated</a:t>
            </a:r>
            <a:r>
              <a:rPr lang="en-US"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 (cell contains 2 nuclei).</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0000"/>
              </a:lnSpc>
              <a:spcBef>
                <a:spcPts val="0"/>
              </a:spcBef>
              <a:spcAft>
                <a:spcPts val="120"/>
              </a:spcAft>
              <a:buSzPts val="1000"/>
              <a:buFont typeface="Symbol" panose="05050102010706020507" pitchFamily="18" charset="2"/>
              <a:buChar char=""/>
              <a:tabLst>
                <a:tab pos="457200" algn="l"/>
              </a:tabLst>
            </a:pPr>
            <a:r>
              <a:rPr lang="en-US"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Extend from the </a:t>
            </a:r>
            <a:r>
              <a:rPr lang="en-US" b="1"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atrioventricular node</a:t>
            </a:r>
            <a:r>
              <a:rPr lang="en-US"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 pierces the fibrous body, divides into left and right bundles, and travels, beneath the endocardium, towards the apex of the heart.</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0000"/>
              </a:lnSpc>
              <a:spcBef>
                <a:spcPts val="0"/>
              </a:spcBef>
              <a:spcAft>
                <a:spcPts val="120"/>
              </a:spcAft>
              <a:buSzPts val="1000"/>
              <a:buFont typeface="Symbol" panose="05050102010706020507" pitchFamily="18" charset="2"/>
              <a:buChar char=""/>
              <a:tabLst>
                <a:tab pos="457200" algn="l"/>
              </a:tabLst>
            </a:pPr>
            <a:r>
              <a:rPr lang="en-US"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Bundle branches contact cardiac muscle cells through specializations similar to intercalated discs.</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0000"/>
              </a:lnSpc>
              <a:spcBef>
                <a:spcPts val="0"/>
              </a:spcBef>
              <a:spcAft>
                <a:spcPts val="120"/>
              </a:spcAft>
              <a:buSzPts val="1000"/>
              <a:buFont typeface="Symbol" panose="05050102010706020507" pitchFamily="18" charset="2"/>
              <a:buChar char=""/>
              <a:tabLst>
                <a:tab pos="457200" algn="l"/>
              </a:tabLst>
            </a:pPr>
            <a:r>
              <a:rPr lang="en-US"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Conduct stimuli faster than ordinary cardiac muscle cells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0000"/>
              </a:lnSpc>
              <a:spcBef>
                <a:spcPts val="0"/>
              </a:spcBef>
              <a:spcAft>
                <a:spcPts val="120"/>
              </a:spcAft>
              <a:buSzPts val="1000"/>
              <a:buFont typeface="Symbol" panose="05050102010706020507" pitchFamily="18" charset="2"/>
              <a:buChar char=""/>
              <a:tabLst>
                <a:tab pos="457200" algn="l"/>
              </a:tabLst>
            </a:pPr>
            <a:r>
              <a:rPr lang="en-US"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Discovered in 1839 by Jan Evangelista </a:t>
            </a:r>
            <a:r>
              <a:rPr lang="en-US" dirty="0" err="1">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Purkynjě</a:t>
            </a:r>
            <a:r>
              <a:rPr lang="en-US" dirty="0">
                <a:solidFill>
                  <a:srgbClr val="212529"/>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18410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32411" y="875211"/>
            <a:ext cx="9496698" cy="5669279"/>
          </a:xfrm>
          <a:prstGeom prst="rect">
            <a:avLst/>
          </a:prstGeom>
        </p:spPr>
      </p:pic>
    </p:spTree>
    <p:extLst>
      <p:ext uri="{BB962C8B-B14F-4D97-AF65-F5344CB8AC3E}">
        <p14:creationId xmlns:p14="http://schemas.microsoft.com/office/powerpoint/2010/main" val="3768284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755"/>
            <a:ext cx="10515600" cy="548640"/>
          </a:xfrm>
        </p:spPr>
        <p:txBody>
          <a:bodyPr>
            <a:normAutofit fontScale="90000"/>
          </a:bodyPr>
          <a:lstStyle/>
          <a:p>
            <a:pPr lvl="0" indent="-228600" algn="ctr">
              <a:lnSpc>
                <a:spcPct val="150000"/>
              </a:lnSpc>
              <a:spcBef>
                <a:spcPts val="0"/>
              </a:spcBef>
              <a:spcAft>
                <a:spcPts val="800"/>
              </a:spcAft>
            </a:pPr>
            <a:r>
              <a:rPr lang="en-US" sz="4000" b="1" u="sng" dirty="0">
                <a:solidFill>
                  <a:srgbClr val="FF0000"/>
                </a:solidFill>
                <a:latin typeface="Times New Roman" panose="02020603050405020304" pitchFamily="18" charset="0"/>
                <a:ea typeface="Calibri" panose="020F0502020204030204" pitchFamily="34" charset="0"/>
                <a:cs typeface="Arial" panose="020B0604020202020204" pitchFamily="34" charset="0"/>
              </a:rPr>
              <a:t>Intercalated disc :</a:t>
            </a:r>
            <a:endParaRPr lang="en-US" sz="4000" dirty="0">
              <a:solidFill>
                <a:prstClr val="black"/>
              </a:solidFill>
              <a:latin typeface="Calibri" panose="020F0502020204030204" pitchFamily="34" charset="0"/>
              <a:ea typeface="Calibri" panose="020F0502020204030204" pitchFamily="34" charset="0"/>
              <a:cs typeface="Arial" panose="020B0604020202020204" pitchFamily="34" charset="0"/>
            </a:endParaRPr>
          </a:p>
        </p:txBody>
      </p:sp>
      <p:sp>
        <p:nvSpPr>
          <p:cNvPr id="3" name="Content Placeholder 2"/>
          <p:cNvSpPr>
            <a:spLocks noGrp="1"/>
          </p:cNvSpPr>
          <p:nvPr>
            <p:ph idx="1"/>
          </p:nvPr>
        </p:nvSpPr>
        <p:spPr>
          <a:xfrm>
            <a:off x="457201" y="992776"/>
            <a:ext cx="11482250" cy="5682343"/>
          </a:xfrm>
        </p:spPr>
        <p:txBody>
          <a:bodyPr>
            <a:noAutofit/>
          </a:bodyPr>
          <a:lstStyle/>
          <a:p>
            <a:pPr marL="0" marR="0" algn="just" fontAlgn="base">
              <a:lnSpc>
                <a:spcPct val="150000"/>
              </a:lnSpc>
              <a:spcBef>
                <a:spcPts val="0"/>
              </a:spcBef>
              <a:spcAft>
                <a:spcPts val="0"/>
              </a:spcAft>
            </a:pPr>
            <a:r>
              <a:rPr lang="en-US" sz="2400" dirty="0">
                <a:solidFill>
                  <a:srgbClr val="000000"/>
                </a:solidFill>
                <a:latin typeface="Times New Roman" panose="02020603050405020304" pitchFamily="18" charset="0"/>
                <a:ea typeface="Times New Roman" panose="02020603050405020304" pitchFamily="18" charset="0"/>
                <a:cs typeface="Arial" panose="020B0604020202020204" pitchFamily="34" charset="0"/>
              </a:rPr>
              <a:t>These are the specialized junctions of  </a:t>
            </a:r>
            <a:r>
              <a:rPr lang="en-US" sz="2400" u="sng" dirty="0">
                <a:solidFill>
                  <a:srgbClr val="3B8DBD"/>
                </a:solidFill>
                <a:latin typeface="Times New Roman" panose="02020603050405020304" pitchFamily="18" charset="0"/>
                <a:ea typeface="Times New Roman" panose="02020603050405020304" pitchFamily="18" charset="0"/>
                <a:cs typeface="Arial" panose="020B0604020202020204" pitchFamily="34" charset="0"/>
                <a:hlinkClick r:id="rId2"/>
              </a:rPr>
              <a:t>cell membranes</a:t>
            </a:r>
            <a:r>
              <a:rPr lang="en-US" sz="2400" u="sng" dirty="0">
                <a:solidFill>
                  <a:srgbClr val="3B8DBD"/>
                </a:solidFill>
                <a:latin typeface="Times New Roman" panose="02020603050405020304" pitchFamily="18" charset="0"/>
                <a:ea typeface="Times New Roman" panose="02020603050405020304" pitchFamily="18" charset="0"/>
                <a:cs typeface="Arial" panose="020B0604020202020204" pitchFamily="34" charset="0"/>
              </a:rPr>
              <a:t> </a:t>
            </a:r>
            <a:r>
              <a:rPr lang="en-US" sz="2400" dirty="0">
                <a:solidFill>
                  <a:srgbClr val="000000"/>
                </a:solidFill>
                <a:latin typeface="Times New Roman" panose="02020603050405020304" pitchFamily="18" charset="0"/>
                <a:ea typeface="Times New Roman" panose="02020603050405020304" pitchFamily="18" charset="0"/>
                <a:cs typeface="Arial" panose="020B0604020202020204" pitchFamily="34" charset="0"/>
              </a:rPr>
              <a:t> of adjacent cardio myocytes. They extend across the fiber at the level of the Z lines in a stepwise manner.</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just" fontAlgn="base">
              <a:lnSpc>
                <a:spcPct val="150000"/>
              </a:lnSpc>
              <a:spcBef>
                <a:spcPts val="0"/>
              </a:spcBef>
              <a:spcAft>
                <a:spcPts val="0"/>
              </a:spcAft>
            </a:pPr>
            <a:r>
              <a:rPr lang="en-US" sz="2400" dirty="0">
                <a:solidFill>
                  <a:srgbClr val="000000"/>
                </a:solidFill>
                <a:latin typeface="Times New Roman" panose="02020603050405020304" pitchFamily="18" charset="0"/>
                <a:ea typeface="Times New Roman" panose="02020603050405020304" pitchFamily="18" charset="0"/>
                <a:cs typeface="Arial" panose="020B0604020202020204" pitchFamily="34" charset="0"/>
              </a:rPr>
              <a:t> Two regions can be distinguished in the intercalated discs: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fontAlgn="base">
              <a:lnSpc>
                <a:spcPct val="150000"/>
              </a:lnSpc>
              <a:spcBef>
                <a:spcPts val="0"/>
              </a:spcBef>
              <a:spcAft>
                <a:spcPts val="0"/>
              </a:spcAft>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ea typeface="Times New Roman" panose="02020603050405020304" pitchFamily="18" charset="0"/>
                <a:cs typeface="Arial" panose="020B0604020202020204" pitchFamily="34" charset="0"/>
              </a:rPr>
              <a:t>Transverse portion that runs across the fibers perpendicular to the myofilaments and lies at the level of the Z line. It is formed of fascia </a:t>
            </a:r>
            <a:r>
              <a:rPr lang="en-US" sz="2400" dirty="0" err="1">
                <a:solidFill>
                  <a:srgbClr val="000000"/>
                </a:solidFill>
                <a:latin typeface="Times New Roman" panose="02020603050405020304" pitchFamily="18" charset="0"/>
                <a:ea typeface="Times New Roman" panose="02020603050405020304" pitchFamily="18" charset="0"/>
                <a:cs typeface="Arial" panose="020B0604020202020204" pitchFamily="34" charset="0"/>
              </a:rPr>
              <a:t>adherens</a:t>
            </a:r>
            <a:r>
              <a:rPr lang="en-US" sz="2400" dirty="0">
                <a:solidFill>
                  <a:srgbClr val="000000"/>
                </a:solidFill>
                <a:latin typeface="Times New Roman" panose="02020603050405020304" pitchFamily="18" charset="0"/>
                <a:ea typeface="Times New Roman" panose="02020603050405020304" pitchFamily="18" charset="0"/>
                <a:cs typeface="Arial" panose="020B0604020202020204" pitchFamily="34" charset="0"/>
              </a:rPr>
              <a:t> (similar to zonula </a:t>
            </a:r>
            <a:r>
              <a:rPr lang="en-US" sz="2400" dirty="0" err="1">
                <a:solidFill>
                  <a:srgbClr val="000000"/>
                </a:solidFill>
                <a:latin typeface="Times New Roman" panose="02020603050405020304" pitchFamily="18" charset="0"/>
                <a:ea typeface="Times New Roman" panose="02020603050405020304" pitchFamily="18" charset="0"/>
                <a:cs typeface="Arial" panose="020B0604020202020204" pitchFamily="34" charset="0"/>
              </a:rPr>
              <a:t>adherens</a:t>
            </a:r>
            <a:r>
              <a:rPr lang="en-US" sz="2400" dirty="0">
                <a:solidFill>
                  <a:srgbClr val="000000"/>
                </a:solidFill>
                <a:latin typeface="Times New Roman" panose="02020603050405020304" pitchFamily="18" charset="0"/>
                <a:ea typeface="Times New Roman" panose="02020603050405020304" pitchFamily="18" charset="0"/>
                <a:cs typeface="Arial" panose="020B0604020202020204" pitchFamily="34" charset="0"/>
              </a:rPr>
              <a:t>) and many desmosomes (similar to those of epithelium but attached through </a:t>
            </a:r>
            <a:r>
              <a:rPr lang="en-US" sz="2400" dirty="0" err="1">
                <a:solidFill>
                  <a:srgbClr val="000000"/>
                </a:solidFill>
                <a:latin typeface="Times New Roman" panose="02020603050405020304" pitchFamily="18" charset="0"/>
                <a:ea typeface="Times New Roman" panose="02020603050405020304" pitchFamily="18" charset="0"/>
                <a:cs typeface="Arial" panose="020B0604020202020204" pitchFamily="34" charset="0"/>
              </a:rPr>
              <a:t>desmin</a:t>
            </a:r>
            <a:r>
              <a:rPr lang="en-US" sz="2400" dirty="0">
                <a:solidFill>
                  <a:srgbClr val="000000"/>
                </a:solidFill>
                <a:latin typeface="Times New Roman" panose="02020603050405020304" pitchFamily="18" charset="0"/>
                <a:ea typeface="Times New Roman" panose="02020603050405020304" pitchFamily="18" charset="0"/>
                <a:cs typeface="Arial" panose="020B0604020202020204" pitchFamily="34" charset="0"/>
              </a:rPr>
              <a:t> intermediate filaments) to provide strong adhesion between the adjacent cardio myocytes.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fontAlgn="base">
              <a:lnSpc>
                <a:spcPct val="150000"/>
              </a:lnSpc>
              <a:spcBef>
                <a:spcPts val="0"/>
              </a:spcBef>
              <a:spcAft>
                <a:spcPts val="0"/>
              </a:spcAft>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ea typeface="Times New Roman" panose="02020603050405020304" pitchFamily="18" charset="0"/>
                <a:cs typeface="Arial" panose="020B0604020202020204" pitchFamily="34" charset="0"/>
              </a:rPr>
              <a:t>The longitudinal portion runs parallel to the myofilaments with many gap junctions to allow rapid spread of excitation between the adjacent cardio myocytes.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400" dirty="0">
                <a:latin typeface="Times New Roman" panose="02020603050405020304" pitchFamily="18" charset="0"/>
                <a:ea typeface="Times New Roman" panose="02020603050405020304" pitchFamily="18" charset="0"/>
                <a:cs typeface="Arial" panose="020B0604020202020204" pitchFamily="34" charset="0"/>
              </a:rPr>
              <a:t>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endParaRPr lang="en-US" sz="2400" dirty="0"/>
          </a:p>
        </p:txBody>
      </p:sp>
    </p:spTree>
    <p:extLst>
      <p:ext uri="{BB962C8B-B14F-4D97-AF65-F5344CB8AC3E}">
        <p14:creationId xmlns:p14="http://schemas.microsoft.com/office/powerpoint/2010/main" val="1648979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80607" y="1201783"/>
            <a:ext cx="9222376" cy="5408023"/>
          </a:xfrm>
          <a:prstGeom prst="rect">
            <a:avLst/>
          </a:prstGeom>
        </p:spPr>
      </p:pic>
    </p:spTree>
    <p:extLst>
      <p:ext uri="{BB962C8B-B14F-4D97-AF65-F5344CB8AC3E}">
        <p14:creationId xmlns:p14="http://schemas.microsoft.com/office/powerpoint/2010/main" val="3160212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49531" y="548640"/>
            <a:ext cx="9784079" cy="6074229"/>
          </a:xfrm>
          <a:prstGeom prst="rect">
            <a:avLst/>
          </a:prstGeom>
        </p:spPr>
      </p:pic>
    </p:spTree>
    <p:extLst>
      <p:ext uri="{BB962C8B-B14F-4D97-AF65-F5344CB8AC3E}">
        <p14:creationId xmlns:p14="http://schemas.microsoft.com/office/powerpoint/2010/main" val="1765640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697" y="156754"/>
            <a:ext cx="11390811" cy="6453052"/>
          </a:xfrm>
        </p:spPr>
        <p:txBody>
          <a:bodyPr>
            <a:noAutofit/>
          </a:bodyPr>
          <a:lstStyle/>
          <a:p>
            <a:pPr marL="0" marR="0" algn="just">
              <a:lnSpc>
                <a:spcPct val="150000"/>
              </a:lnSpc>
              <a:spcBef>
                <a:spcPts val="0"/>
              </a:spcBef>
              <a:spcAft>
                <a:spcPts val="800"/>
              </a:spcAft>
            </a:pPr>
            <a:r>
              <a:rPr lang="en-US" sz="2400" b="1" u="sng" dirty="0">
                <a:solidFill>
                  <a:srgbClr val="FF0000"/>
                </a:solidFill>
                <a:latin typeface="Times New Roman" panose="02020603050405020304" pitchFamily="18" charset="0"/>
                <a:ea typeface="Calibri" panose="020F0502020204030204" pitchFamily="34" charset="0"/>
                <a:cs typeface="Arial" panose="020B0604020202020204" pitchFamily="34" charset="0"/>
              </a:rPr>
              <a:t>Self Assessment of Lecture 3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sz="2400" b="1" u="sng" dirty="0">
                <a:latin typeface="Times New Roman" panose="02020603050405020304" pitchFamily="18" charset="0"/>
                <a:ea typeface="Calibri" panose="020F0502020204030204" pitchFamily="34" charset="0"/>
                <a:cs typeface="Arial" panose="020B0604020202020204" pitchFamily="34" charset="0"/>
              </a:rPr>
              <a:t>I- Complete the missing words: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sz="2400" dirty="0">
                <a:latin typeface="Times New Roman" panose="02020603050405020304" pitchFamily="18" charset="0"/>
                <a:ea typeface="Calibri" panose="020F0502020204030204" pitchFamily="34" charset="0"/>
                <a:cs typeface="Arial" panose="020B0604020202020204" pitchFamily="34" charset="0"/>
              </a:rPr>
              <a:t>1. </a:t>
            </a:r>
            <a:r>
              <a:rPr lang="en-US" sz="2400" dirty="0" err="1">
                <a:latin typeface="Times New Roman" panose="02020603050405020304" pitchFamily="18" charset="0"/>
                <a:ea typeface="Calibri" panose="020F0502020204030204" pitchFamily="34" charset="0"/>
                <a:cs typeface="Arial" panose="020B0604020202020204" pitchFamily="34" charset="0"/>
              </a:rPr>
              <a:t>Purkinjue</a:t>
            </a:r>
            <a:r>
              <a:rPr lang="en-US" sz="2400" dirty="0">
                <a:latin typeface="Times New Roman" panose="02020603050405020304" pitchFamily="18" charset="0"/>
                <a:ea typeface="Calibri" panose="020F0502020204030204" pitchFamily="34" charset="0"/>
                <a:cs typeface="Arial" panose="020B0604020202020204" pitchFamily="34" charset="0"/>
              </a:rPr>
              <a:t> fibers are …</a:t>
            </a:r>
            <a:r>
              <a:rPr lang="en-US" sz="24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Larger</a:t>
            </a:r>
            <a:r>
              <a:rPr lang="en-US" sz="2400" dirty="0">
                <a:latin typeface="Times New Roman" panose="02020603050405020304" pitchFamily="18" charset="0"/>
                <a:ea typeface="Calibri" panose="020F0502020204030204" pitchFamily="34" charset="0"/>
                <a:cs typeface="Arial" panose="020B0604020202020204" pitchFamily="34" charset="0"/>
              </a:rPr>
              <a:t>….. than ordinary muscle fibers. The bulk of the sarcoplasm is occupied by  </a:t>
            </a:r>
            <a:r>
              <a:rPr lang="en-US" sz="24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Glycogen and Mitochondria</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sz="2400" dirty="0">
                <a:latin typeface="Times New Roman" panose="02020603050405020304" pitchFamily="18" charset="0"/>
                <a:ea typeface="Calibri" panose="020F0502020204030204" pitchFamily="34" charset="0"/>
                <a:cs typeface="Arial" panose="020B0604020202020204" pitchFamily="34" charset="0"/>
              </a:rPr>
              <a:t>2. Valves, are endocardial folds supported by internal plates of …</a:t>
            </a:r>
            <a:r>
              <a:rPr lang="en-US" sz="2400" dirty="0">
                <a:effectLst/>
                <a:latin typeface="Calibri" panose="020F0502020204030204" pitchFamily="34" charset="0"/>
                <a:ea typeface="Calibri" panose="020F0502020204030204" pitchFamily="34" charset="0"/>
                <a:cs typeface="Arial" panose="020B0604020202020204" pitchFamily="34" charset="0"/>
              </a:rPr>
              <a:t> </a:t>
            </a:r>
            <a:r>
              <a:rPr lang="en-US" sz="24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dense collagenous and elastic connective tissue </a:t>
            </a:r>
            <a:r>
              <a:rPr lang="en-US" sz="2400" dirty="0">
                <a:latin typeface="Times New Roman" panose="02020603050405020304" pitchFamily="18" charset="0"/>
                <a:ea typeface="Calibri" panose="020F0502020204030204" pitchFamily="34" charset="0"/>
                <a:cs typeface="Arial" panose="020B0604020202020204" pitchFamily="34" charset="0"/>
              </a:rPr>
              <a:t> that continuous with the cardiac skeleton.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sz="2400" b="1" u="sng" dirty="0">
                <a:latin typeface="Times New Roman" panose="02020603050405020304" pitchFamily="18" charset="0"/>
                <a:ea typeface="Calibri" panose="020F0502020204030204" pitchFamily="34" charset="0"/>
                <a:cs typeface="Arial" panose="020B0604020202020204" pitchFamily="34" charset="0"/>
              </a:rPr>
              <a:t>II- Answer with true (T) or false (F):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sz="2400" dirty="0">
                <a:latin typeface="Times New Roman" panose="02020603050405020304" pitchFamily="18" charset="0"/>
                <a:ea typeface="Calibri" panose="020F0502020204030204" pitchFamily="34" charset="0"/>
                <a:cs typeface="Arial" panose="020B0604020202020204" pitchFamily="34" charset="0"/>
              </a:rPr>
              <a:t>1. Cardiac skeleton composed of dense yellow elastic connective tissue into which the cardiac muscle fibers of the atria and ventricles. (  </a:t>
            </a:r>
            <a:r>
              <a:rPr lang="en-US" sz="24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F</a:t>
            </a:r>
            <a:r>
              <a:rPr lang="en-US" sz="2400" dirty="0">
                <a:latin typeface="Times New Roman" panose="02020603050405020304" pitchFamily="18" charset="0"/>
                <a:ea typeface="Calibri" panose="020F0502020204030204" pitchFamily="34" charset="0"/>
                <a:cs typeface="Arial" panose="020B0604020202020204" pitchFamily="34" charset="0"/>
              </a:rPr>
              <a:t>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sz="2400" dirty="0">
                <a:latin typeface="Times New Roman" panose="02020603050405020304" pitchFamily="18" charset="0"/>
                <a:ea typeface="Calibri" panose="020F0502020204030204" pitchFamily="34" charset="0"/>
                <a:cs typeface="Arial" panose="020B0604020202020204" pitchFamily="34" charset="0"/>
              </a:rPr>
              <a:t> 2. Fascia adherence are anchoring sites for actin, that prevent separation during contraction by binding filaments, joining the cells together ( </a:t>
            </a:r>
            <a:r>
              <a:rPr lang="en-US" sz="24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T</a:t>
            </a:r>
            <a:r>
              <a:rPr lang="en-US" sz="2400" dirty="0">
                <a:latin typeface="Times New Roman" panose="02020603050405020304" pitchFamily="18" charset="0"/>
                <a:ea typeface="Calibri" panose="020F0502020204030204" pitchFamily="34" charset="0"/>
                <a:cs typeface="Arial" panose="020B0604020202020204" pitchFamily="34" charset="0"/>
              </a:rPr>
              <a:t>   ) </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769251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6754"/>
            <a:ext cx="10515600" cy="6701246"/>
          </a:xfrm>
        </p:spPr>
        <p:txBody>
          <a:bodyPr>
            <a:noAutofit/>
          </a:bodyPr>
          <a:lstStyle/>
          <a:p>
            <a:pPr marL="0" lvl="0" algn="just">
              <a:lnSpc>
                <a:spcPct val="150000"/>
              </a:lnSpc>
              <a:spcBef>
                <a:spcPts val="0"/>
              </a:spcBef>
              <a:spcAft>
                <a:spcPts val="800"/>
              </a:spcAft>
            </a:pPr>
            <a:r>
              <a:rPr lang="en-US" sz="2400" b="1" u="sng" dirty="0">
                <a:solidFill>
                  <a:prstClr val="black"/>
                </a:solidFill>
                <a:latin typeface="Times New Roman" panose="02020603050405020304" pitchFamily="18" charset="0"/>
                <a:ea typeface="Calibri" panose="020F0502020204030204" pitchFamily="34" charset="0"/>
                <a:cs typeface="Arial" panose="020B0604020202020204" pitchFamily="34" charset="0"/>
              </a:rPr>
              <a:t>Choose the correct answer: </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1- What is the innermost layer of the heart wall?</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A. Epicardium.</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B. Pericardium.</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C</a:t>
            </a:r>
            <a:r>
              <a:rPr lang="en-US" sz="2400" dirty="0">
                <a:latin typeface="Times New Roman" panose="02020603050405020304" pitchFamily="18" charset="0"/>
                <a:ea typeface="Calibri" panose="020F0502020204030204" pitchFamily="34" charset="0"/>
                <a:cs typeface="Arial" panose="020B0604020202020204" pitchFamily="34" charset="0"/>
              </a:rPr>
              <a:t>. Visceral pericardium</a:t>
            </a:r>
            <a:r>
              <a:rPr lang="en-US" sz="2400" dirty="0">
                <a:solidFill>
                  <a:srgbClr val="FF0000"/>
                </a:solidFill>
                <a:latin typeface="Times New Roman" panose="02020603050405020304" pitchFamily="18" charset="0"/>
                <a:ea typeface="Calibri" panose="020F0502020204030204" pitchFamily="34" charset="0"/>
                <a:cs typeface="Arial" panose="020B0604020202020204" pitchFamily="34" charset="0"/>
              </a:rPr>
              <a:t>.</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D. </a:t>
            </a:r>
            <a:r>
              <a:rPr lang="en-US" sz="2400" dirty="0">
                <a:solidFill>
                  <a:srgbClr val="FF0000"/>
                </a:solidFill>
                <a:latin typeface="Times New Roman" panose="02020603050405020304" pitchFamily="18" charset="0"/>
                <a:ea typeface="Calibri" panose="020F0502020204030204" pitchFamily="34" charset="0"/>
                <a:cs typeface="Arial" panose="020B0604020202020204" pitchFamily="34" charset="0"/>
              </a:rPr>
              <a:t>Endocardium.</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2- What is the name of the valve between the left atrium and left ventricle?</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A. </a:t>
            </a:r>
            <a:r>
              <a:rPr lang="en-US" sz="2400" dirty="0">
                <a:solidFill>
                  <a:srgbClr val="FF0000"/>
                </a:solidFill>
                <a:latin typeface="Times New Roman" panose="02020603050405020304" pitchFamily="18" charset="0"/>
                <a:ea typeface="Calibri" panose="020F0502020204030204" pitchFamily="34" charset="0"/>
                <a:cs typeface="Arial" panose="020B0604020202020204" pitchFamily="34" charset="0"/>
              </a:rPr>
              <a:t>Mitral valve.</a:t>
            </a: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B- Tricuspid valve.</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a:t>
            </a:r>
            <a:r>
              <a:rPr lang="en-US" sz="2400" dirty="0">
                <a:latin typeface="Times New Roman" panose="02020603050405020304" pitchFamily="18" charset="0"/>
                <a:ea typeface="Calibri" panose="020F0502020204030204" pitchFamily="34" charset="0"/>
                <a:cs typeface="Arial" panose="020B0604020202020204" pitchFamily="34" charset="0"/>
              </a:rPr>
              <a:t>C-  Semilunar valve.</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latin typeface="Times New Roman" panose="02020603050405020304" pitchFamily="18" charset="0"/>
                <a:ea typeface="Calibri" panose="020F0502020204030204" pitchFamily="34" charset="0"/>
                <a:cs typeface="Arial" panose="020B0604020202020204" pitchFamily="34" charset="0"/>
              </a:rPr>
              <a:t>          D - Aortic valve.</a:t>
            </a: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spcAft>
                <a:spcPts val="800"/>
              </a:spcAft>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3- Purkinje fibers are located in which of the heart layer? </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A. </a:t>
            </a:r>
            <a:r>
              <a:rPr lang="en-US" sz="2400" dirty="0">
                <a:solidFill>
                  <a:srgbClr val="FF0000"/>
                </a:solidFill>
                <a:latin typeface="Times New Roman" panose="02020603050405020304" pitchFamily="18" charset="0"/>
                <a:ea typeface="Calibri" panose="020F0502020204030204" pitchFamily="34" charset="0"/>
                <a:cs typeface="Arial" panose="020B0604020202020204" pitchFamily="34" charset="0"/>
              </a:rPr>
              <a:t>Endocardium.</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B. Myocardium.</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0" lvl="0" indent="0" algn="just">
              <a:lnSpc>
                <a:spcPct val="107000"/>
              </a:lnSpc>
              <a:spcBef>
                <a:spcPts val="0"/>
              </a:spcBef>
              <a:buNone/>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C. Epicardium .</a:t>
            </a:r>
          </a:p>
          <a:p>
            <a:pPr marL="0" lvl="0" indent="0" algn="just">
              <a:lnSpc>
                <a:spcPct val="107000"/>
              </a:lnSpc>
              <a:spcBef>
                <a:spcPts val="0"/>
              </a:spcBef>
              <a:buNone/>
            </a:pPr>
            <a:r>
              <a:rPr lang="en-US" sz="2400" dirty="0"/>
              <a:t>        D. Pericardium.</a:t>
            </a:r>
          </a:p>
        </p:txBody>
      </p:sp>
    </p:spTree>
    <p:extLst>
      <p:ext uri="{BB962C8B-B14F-4D97-AF65-F5344CB8AC3E}">
        <p14:creationId xmlns:p14="http://schemas.microsoft.com/office/powerpoint/2010/main" val="21062052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1082</Words>
  <Application>Microsoft Office PowerPoint</Application>
  <PresentationFormat>Widescreen</PresentationFormat>
  <Paragraphs>78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Symbol</vt:lpstr>
      <vt:lpstr>Times New Roman</vt:lpstr>
      <vt:lpstr>Office Theme</vt:lpstr>
      <vt:lpstr>HISTOLOGY OF CARDIOVASCULAR SYSTEM</vt:lpstr>
      <vt:lpstr>PowerPoint Presentation</vt:lpstr>
      <vt:lpstr>Histology of the heart</vt:lpstr>
      <vt:lpstr>Histology of the heart: </vt:lpstr>
      <vt:lpstr>PowerPoint Presentation</vt:lpstr>
      <vt:lpstr>PowerPoint Presentation</vt:lpstr>
      <vt:lpstr>PowerPoint Presentation</vt:lpstr>
      <vt:lpstr>PowerPoint Presentation</vt:lpstr>
      <vt:lpstr>Cardiac valves:</vt:lpstr>
      <vt:lpstr>Purkinje fibers : </vt:lpstr>
      <vt:lpstr>PowerPoint Presentation</vt:lpstr>
      <vt:lpstr>Intercalated disc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HISTOLOGY OF CARDIOVASCULAR SYSTEM</dc:title>
  <dc:creator>DR.Madiha</dc:creator>
  <cp:lastModifiedBy>Dr Ola AbdElTawab Hussein</cp:lastModifiedBy>
  <cp:revision>33</cp:revision>
  <dcterms:created xsi:type="dcterms:W3CDTF">2021-10-18T10:16:44Z</dcterms:created>
  <dcterms:modified xsi:type="dcterms:W3CDTF">2023-10-09T08:12:29Z</dcterms:modified>
</cp:coreProperties>
</file>